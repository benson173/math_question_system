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1695" cy="6858000"/>
  <p:notesSz cx="6858000" cy="9144000"/>
  <p:defaultTextStyle>
    <a:defPPr>
      <a:defRPr lang="zh-TW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defPPr>
        <a:defRPr lang="zh-TW"/>
      </a:defPPr>
      <a:lvl1pPr>
        <a:defRPr sz="1400">
          <a:latin typeface="Calibri"/>
          <a:ea typeface="Microsoft JhengHei"/>
        </a:defRPr>
      </a:lvl1pPr>
    </p:titleStyle>
    <p:bodyStyle>
      <a:defPPr>
        <a:defRPr lang="zh-TW"/>
      </a:defPPr>
      <a:lvl1pPr>
        <a:defRPr sz="1400">
          <a:latin typeface="Calibri"/>
          <a:ea typeface="Microsoft JhengHei"/>
        </a:defRPr>
      </a:lvl1pPr>
    </p:bodyStyle>
    <p:otherStyle>
      <a:defPPr>
        <a:defRPr lang="zh-TW"/>
      </a:defPPr>
      <a:lvl1pPr>
        <a:defRPr sz="1400">
          <a:latin typeface="Calibri"/>
          <a:ea typeface="Microsoft JhengHe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00" b="1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MATH QUESTION SYSTEM  ·  2026 年 9 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155448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48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數學題目系統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269748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400"/>
              </a:spcAft>
              <a:buNone/>
            </a:pPr>
            <a:r>
              <a:rPr lang="zh-TW" altLang="en-US" sz="22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由試卷 PDF 到學生手寫頁:</a:t>
            </a:r>
          </a:p>
          <a:p>
            <a:pPr algn="l">
              <a:buNone/>
            </a:pPr>
            <a:r>
              <a:rPr lang="zh-TW" altLang="en-US" sz="22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把每一條題目變成可分析、可比較、可跟進的數據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429768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7" name="TextBox 7"/>
          <p:cNvSpPr txBox="1"/>
          <p:nvPr/>
        </p:nvSpPr>
        <p:spPr>
          <a:xfrm>
            <a:off x="731520" y="4297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26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4360" y="5074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800" b="0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Recognition</a:t>
            </a:r>
          </a:p>
        </p:txBody>
      </p:sp>
      <p:sp>
        <p:nvSpPr>
          <p:cNvPr id="9" name="Shape 9"/>
          <p:cNvSpPr/>
          <p:nvPr/>
        </p:nvSpPr>
        <p:spPr>
          <a:xfrm>
            <a:off x="1691640" y="429768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2E545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0" name="TextBox 10"/>
          <p:cNvSpPr txBox="1"/>
          <p:nvPr/>
        </p:nvSpPr>
        <p:spPr>
          <a:xfrm>
            <a:off x="1691640" y="4297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26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4480" y="5074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800" b="0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Procedure</a:t>
            </a:r>
          </a:p>
        </p:txBody>
      </p:sp>
      <p:sp>
        <p:nvSpPr>
          <p:cNvPr id="12" name="Shape 12"/>
          <p:cNvSpPr/>
          <p:nvPr/>
        </p:nvSpPr>
        <p:spPr>
          <a:xfrm>
            <a:off x="2651760" y="429768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3" name="TextBox 13"/>
          <p:cNvSpPr txBox="1"/>
          <p:nvPr/>
        </p:nvSpPr>
        <p:spPr>
          <a:xfrm>
            <a:off x="2651760" y="4297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26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14600" y="5074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800" b="0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Decision</a:t>
            </a:r>
          </a:p>
        </p:txBody>
      </p:sp>
      <p:sp>
        <p:nvSpPr>
          <p:cNvPr id="15" name="Shape 15"/>
          <p:cNvSpPr/>
          <p:nvPr/>
        </p:nvSpPr>
        <p:spPr>
          <a:xfrm>
            <a:off x="3611880" y="429768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2E545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6" name="TextBox 16"/>
          <p:cNvSpPr txBox="1"/>
          <p:nvPr/>
        </p:nvSpPr>
        <p:spPr>
          <a:xfrm>
            <a:off x="3611880" y="4297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26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74720" y="5074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800" b="0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Integration</a:t>
            </a:r>
          </a:p>
        </p:txBody>
      </p:sp>
      <p:sp>
        <p:nvSpPr>
          <p:cNvPr id="18" name="Shape 18"/>
          <p:cNvSpPr/>
          <p:nvPr/>
        </p:nvSpPr>
        <p:spPr>
          <a:xfrm>
            <a:off x="4572000" y="429768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9" name="TextBox 19"/>
          <p:cNvSpPr txBox="1"/>
          <p:nvPr/>
        </p:nvSpPr>
        <p:spPr>
          <a:xfrm>
            <a:off x="4572000" y="4297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26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34840" y="5074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800" b="0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Cognitive depth</a:t>
            </a:r>
          </a:p>
        </p:txBody>
      </p:sp>
      <p:sp>
        <p:nvSpPr>
          <p:cNvPr id="21" name="Shape 21"/>
          <p:cNvSpPr/>
          <p:nvPr/>
        </p:nvSpPr>
        <p:spPr>
          <a:xfrm>
            <a:off x="5532120" y="429768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2E545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2" name="TextBox 22"/>
          <p:cNvSpPr txBox="1"/>
          <p:nvPr/>
        </p:nvSpPr>
        <p:spPr>
          <a:xfrm>
            <a:off x="5532120" y="4297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26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94960" y="5074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800" b="0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Error exposure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300" b="0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對象:學校數學老師 × 技術同事    ·    20 分鐘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98080" y="10972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100" b="0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2526_2nd_S4MATH2 · Q24 · 一張真手寫頁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01  問題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8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分數告訴你答對了多少,卻不告訴你為什麼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2 / 15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1417320"/>
            <a:ext cx="5394960" cy="3246120"/>
          </a:xfrm>
          <a:prstGeom prst="roundRect">
            <a:avLst>
              <a:gd name="adj" fmla="val 2816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7" name="TextBox 7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3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現況:一份卷改完之後,留下的是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240" y="1965960"/>
            <a:ext cx="5029200" cy="2651760"/>
          </a:xfrm>
          <a:prstGeom prst="rect">
            <a:avLst/>
          </a:prstGeom>
          <a:noFill/>
        </p:spPr>
        <p:txBody>
          <a:bodyPr wrap="square" lIns="45720" tIns="45720" rIns="45720" bIns="45720" anchor="t" rtlCol="0"/>
          <a:lstStyle/>
          <a:p>
            <a:pPr algn="l" marL="201168" indent="-201168">
              <a:lnSpc>
                <a:spcPct val="105000"/>
              </a:lnSpc>
              <a:spcAft>
                <a:spcPts val="900"/>
              </a:spcAft>
              <a:buFont typeface="Arial"/>
              <a:buChar char="•"/>
            </a:pPr>
            <a:r>
              <a:rPr lang="zh-TW" altLang="en-US" sz="14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分數和對錯。</a:t>
            </a:r>
            <a:r>
              <a:rPr lang="zh-TW" altLang="en-US" sz="14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「Q24 ✗」——但錯在認不出、算不對,還是接不上?</a:t>
            </a:r>
          </a:p>
          <a:p>
            <a:pPr algn="l" marL="201168" indent="-201168">
              <a:lnSpc>
                <a:spcPct val="105000"/>
              </a:lnSpc>
              <a:spcAft>
                <a:spcPts val="900"/>
              </a:spcAft>
              <a:buFont typeface="Arial"/>
              <a:buChar char="•"/>
            </a:pPr>
            <a:r>
              <a:rPr lang="zh-TW" altLang="en-US" sz="14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靠經驗的難度。</a:t>
            </a:r>
            <a:r>
              <a:rPr lang="zh-TW" altLang="en-US" sz="14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這份卷「難」在哪裡,兩位老師未必同意;兩份卷是否同等難度,憑感覺。</a:t>
            </a:r>
          </a:p>
          <a:p>
            <a:pPr algn="l" marL="201168" indent="-201168">
              <a:lnSpc>
                <a:spcPct val="105000"/>
              </a:lnSpc>
              <a:spcAft>
                <a:spcPts val="900"/>
              </a:spcAft>
              <a:buFont typeface="Arial"/>
              <a:buChar char="•"/>
            </a:pPr>
            <a:r>
              <a:rPr lang="zh-TW" altLang="en-US" sz="14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用完即棄的題目。</a:t>
            </a:r>
            <a:r>
              <a:rPr lang="zh-TW" altLang="en-US" sz="14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去年那條「考頂點的好題」,今年靠記憶去找。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Font typeface="Arial"/>
              <a:buChar char="•"/>
            </a:pPr>
            <a:r>
              <a:rPr lang="zh-TW" altLang="en-US" sz="14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看不見的過程。</a:t>
            </a:r>
            <a:r>
              <a:rPr lang="zh-TW" altLang="en-US" sz="14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學生的手寫頁只換來一個 ✓ 或 ✗,走了哪條路、哪一步斷了,沒有記錄。</a:t>
            </a:r>
          </a:p>
        </p:txBody>
      </p:sp>
      <p:sp>
        <p:nvSpPr>
          <p:cNvPr id="9" name="Shape 9"/>
          <p:cNvSpPr/>
          <p:nvPr/>
        </p:nvSpPr>
        <p:spPr>
          <a:xfrm>
            <a:off x="6263640" y="1417320"/>
            <a:ext cx="5394960" cy="3246120"/>
          </a:xfrm>
          <a:prstGeom prst="roundRect">
            <a:avLst>
              <a:gd name="adj" fmla="val 2816"/>
            </a:avLst>
          </a:prstGeom>
          <a:solidFill>
            <a:srgbClr val="1F3A3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0" name="TextBox 10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300" b="1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目標:每一條題目、每一張答卷,都變成數據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92240" y="1965960"/>
            <a:ext cx="5029200" cy="2651760"/>
          </a:xfrm>
          <a:prstGeom prst="rect">
            <a:avLst/>
          </a:prstGeom>
          <a:noFill/>
        </p:spPr>
        <p:txBody>
          <a:bodyPr wrap="square" lIns="45720" tIns="45720" rIns="45720" bIns="45720" anchor="t" rtlCol="0"/>
          <a:lstStyle/>
          <a:p>
            <a:pPr algn="l" marL="201168" indent="-201168">
              <a:lnSpc>
                <a:spcPct val="105000"/>
              </a:lnSpc>
              <a:spcAft>
                <a:spcPts val="900"/>
              </a:spcAft>
              <a:buClr>
                <a:srgbClr val="D96C2F"/>
              </a:buClr>
              <a:buFont typeface="Arial"/>
              <a:buChar char="•"/>
            </a:pPr>
            <a:r>
              <a:rPr lang="zh-TW" altLang="en-US" sz="14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題目</a:t>
            </a:r>
            <a:r>
              <a:rPr lang="zh-TW" altLang="en-US" sz="14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→ 六個可觀察的難度維度(RPDICE)+ 用到的技能 + 會暴露的錯誤,全部對回課程指引。</a:t>
            </a:r>
          </a:p>
          <a:p>
            <a:pPr algn="l" marL="201168" indent="-201168">
              <a:lnSpc>
                <a:spcPct val="105000"/>
              </a:lnSpc>
              <a:spcAft>
                <a:spcPts val="900"/>
              </a:spcAft>
              <a:buClr>
                <a:srgbClr val="D96C2F"/>
              </a:buClr>
              <a:buFont typeface="Arial"/>
              <a:buChar char="•"/>
            </a:pPr>
            <a:r>
              <a:rPr lang="zh-TW" altLang="en-US" sz="14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答卷</a:t>
            </a:r>
            <a:r>
              <a:rPr lang="zh-TW" altLang="en-US" sz="14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→ 走了哪條解題路線、哪些技能有紙上證據、錯在哪一類。</a:t>
            </a:r>
          </a:p>
          <a:p>
            <a:pPr algn="l" marL="201168" indent="-201168">
              <a:lnSpc>
                <a:spcPct val="105000"/>
              </a:lnSpc>
              <a:spcAft>
                <a:spcPts val="900"/>
              </a:spcAft>
              <a:buClr>
                <a:srgbClr val="D96C2F"/>
              </a:buClr>
              <a:buFont typeface="Arial"/>
              <a:buChar char="•"/>
            </a:pPr>
            <a:r>
              <a:rPr lang="zh-TW" altLang="en-US" sz="14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資料庫</a:t>
            </a:r>
            <a:r>
              <a:rPr lang="zh-TW" altLang="en-US" sz="14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→ 可以搜、可以比、可以累積;下一年出卷不用從零開始。</a:t>
            </a:r>
          </a:p>
          <a:p>
            <a:pPr algn="l" marL="201168" indent="-201168">
              <a:lnSpc>
                <a:spcPct val="105000"/>
              </a:lnSpc>
              <a:spcAft>
                <a:spcPts val="500"/>
              </a:spcAft>
              <a:buClr>
                <a:srgbClr val="D96C2F"/>
              </a:buClr>
              <a:buFont typeface="Arial"/>
              <a:buChar char="•"/>
            </a:pPr>
            <a:r>
              <a:rPr lang="zh-TW" altLang="en-US" sz="14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分工</a:t>
            </a:r>
            <a:r>
              <a:rPr lang="zh-TW" altLang="en-US" sz="14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→ AI 讀,程式判,人核對。每一步有報告,沒有黑箱。</a:t>
            </a:r>
          </a:p>
        </p:txBody>
      </p:sp>
      <p:sp>
        <p:nvSpPr>
          <p:cNvPr id="12" name="Shape 12"/>
          <p:cNvSpPr/>
          <p:nvPr/>
        </p:nvSpPr>
        <p:spPr>
          <a:xfrm>
            <a:off x="548640" y="498348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BE9D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3" name="TextBox 13"/>
          <p:cNvSpPr txBox="1"/>
          <p:nvPr/>
        </p:nvSpPr>
        <p:spPr>
          <a:xfrm>
            <a:off x="731520" y="498348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600" b="1" i="0" dirty="0">
                <a:solidFill>
                  <a:srgbClr val="8A2E0A"/>
                </a:solidFill>
                <a:latin typeface="Calibri"/>
                <a:ea typeface="Microsoft JhengHei"/>
                <a:cs typeface="Microsoft JhengHei"/>
              </a:rPr>
              <a:t>系統不是取代老師的判斷,而是把判斷寫下來、對得上、存得住。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02  全貌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8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六層流程:每一層都是「AI 讀 → 程式驗 → 人看報告 → 才入庫」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3 / 15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1554480"/>
            <a:ext cx="1737360" cy="2103120"/>
          </a:xfrm>
          <a:prstGeom prst="roundRect">
            <a:avLst>
              <a:gd name="adj" fmla="val 6315"/>
            </a:avLst>
          </a:prstGeom>
          <a:solidFill>
            <a:srgbClr val="E9F1F0"/>
          </a:solidFill>
          <a:ln>
            <a:noFill/>
          </a:ln>
          <a:effectLst>
            <a:outerShdw blurRad="50800" dist="254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/>
          </a:p>
        </p:txBody>
      </p:sp>
      <p:sp>
        <p:nvSpPr>
          <p:cNvPr id="7" name="Shape 7"/>
          <p:cNvSpPr/>
          <p:nvPr/>
        </p:nvSpPr>
        <p:spPr>
          <a:xfrm>
            <a:off x="685800" y="1691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3A3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8" name="TextBox 8"/>
          <p:cNvSpPr txBox="1"/>
          <p:nvPr/>
        </p:nvSpPr>
        <p:spPr>
          <a:xfrm>
            <a:off x="685800" y="1691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4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16733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5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抽題</a:t>
            </a:r>
          </a:p>
          <a:p>
            <a:pPr algn="l">
              <a:buNone/>
            </a:pPr>
            <a:r>
              <a:rPr lang="zh-TW" altLang="en-US" sz="9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Extractor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2286000"/>
            <a:ext cx="1463040" cy="1371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300"/>
              </a:spcAft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試卷 PDF → 結構化題目</a:t>
            </a:r>
          </a:p>
          <a:p>
            <a:pPr algn="l">
              <a:spcAft>
                <a:spcPts val="300"/>
              </a:spcAft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題號、選項、圖、答案、年級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0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已建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2304288" y="2606040"/>
            <a:ext cx="100584" cy="0"/>
          </a:xfrm>
          <a:prstGeom prst="line">
            <a:avLst/>
          </a:prstGeom>
          <a:ln w="19050">
            <a:solidFill>
              <a:srgbClr val="5B7A7D"/>
            </a:solidFill>
            <a:tailEnd type="triangle" w="med" len="med"/>
          </a:ln>
        </p:spPr>
      </p:cxnSp>
      <p:sp>
        <p:nvSpPr>
          <p:cNvPr id="13" name="Shape 13"/>
          <p:cNvSpPr/>
          <p:nvPr/>
        </p:nvSpPr>
        <p:spPr>
          <a:xfrm>
            <a:off x="2423160" y="1554480"/>
            <a:ext cx="1737360" cy="2103120"/>
          </a:xfrm>
          <a:prstGeom prst="roundRect">
            <a:avLst>
              <a:gd name="adj" fmla="val 6315"/>
            </a:avLst>
          </a:prstGeom>
          <a:solidFill>
            <a:srgbClr val="E9F1F0"/>
          </a:solidFill>
          <a:ln>
            <a:noFill/>
          </a:ln>
          <a:effectLst>
            <a:outerShdw blurRad="50800" dist="254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/>
          </a:p>
        </p:txBody>
      </p:sp>
      <p:sp>
        <p:nvSpPr>
          <p:cNvPr id="14" name="Shape 14"/>
          <p:cNvSpPr/>
          <p:nvPr/>
        </p:nvSpPr>
        <p:spPr>
          <a:xfrm>
            <a:off x="2560320" y="1691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3A3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5" name="TextBox 15"/>
          <p:cNvSpPr txBox="1"/>
          <p:nvPr/>
        </p:nvSpPr>
        <p:spPr>
          <a:xfrm>
            <a:off x="2560320" y="1691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4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17520" y="16733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5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受控詞彙</a:t>
            </a:r>
          </a:p>
          <a:p>
            <a:pPr algn="l">
              <a:buNone/>
            </a:pPr>
            <a:r>
              <a:rPr lang="zh-TW" altLang="en-US" sz="9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Taxonomy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60320" y="2286000"/>
            <a:ext cx="1463040" cy="1371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300"/>
              </a:spcAft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556 技能 · 139 錯誤模式</a:t>
            </a:r>
          </a:p>
          <a:p>
            <a:pPr algn="l">
              <a:spcAft>
                <a:spcPts val="300"/>
              </a:spcAft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對回 EDB 課程指引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60320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0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已建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4178808" y="2606040"/>
            <a:ext cx="100584" cy="0"/>
          </a:xfrm>
          <a:prstGeom prst="line">
            <a:avLst/>
          </a:prstGeom>
          <a:ln w="19050">
            <a:solidFill>
              <a:srgbClr val="5B7A7D"/>
            </a:solidFill>
            <a:tailEnd type="triangle" w="med" len="med"/>
          </a:ln>
        </p:spPr>
      </p:cxnSp>
      <p:sp>
        <p:nvSpPr>
          <p:cNvPr id="20" name="Shape 20"/>
          <p:cNvSpPr/>
          <p:nvPr/>
        </p:nvSpPr>
        <p:spPr>
          <a:xfrm>
            <a:off x="4297680" y="1554480"/>
            <a:ext cx="1737360" cy="2103120"/>
          </a:xfrm>
          <a:prstGeom prst="roundRect">
            <a:avLst>
              <a:gd name="adj" fmla="val 6315"/>
            </a:avLst>
          </a:prstGeom>
          <a:solidFill>
            <a:srgbClr val="E9F1F0"/>
          </a:solidFill>
          <a:ln>
            <a:noFill/>
          </a:ln>
          <a:effectLst>
            <a:outerShdw blurRad="50800" dist="254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/>
          </a:p>
        </p:txBody>
      </p:sp>
      <p:sp>
        <p:nvSpPr>
          <p:cNvPr id="21" name="Shape 21"/>
          <p:cNvSpPr/>
          <p:nvPr/>
        </p:nvSpPr>
        <p:spPr>
          <a:xfrm>
            <a:off x="4434840" y="1691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3A3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2" name="TextBox 22"/>
          <p:cNvSpPr txBox="1"/>
          <p:nvPr/>
        </p:nvSpPr>
        <p:spPr>
          <a:xfrm>
            <a:off x="4434840" y="1691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4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92040" y="16733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5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RPDICE 分析</a:t>
            </a:r>
          </a:p>
          <a:p>
            <a:pPr algn="l">
              <a:buNone/>
            </a:pPr>
            <a:r>
              <a:rPr lang="zh-TW" altLang="en-US" sz="9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Analyzer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34840" y="2286000"/>
            <a:ext cx="1463040" cy="1371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300"/>
              </a:spcAft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每題六個維度 0–3</a:t>
            </a:r>
          </a:p>
          <a:p>
            <a:pPr algn="l">
              <a:spcAft>
                <a:spcPts val="300"/>
              </a:spcAft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解題策略、技能、錯誤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34840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0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已建</a:t>
            </a:r>
          </a:p>
        </p:txBody>
      </p:sp>
      <p:cxnSp>
        <p:nvCxnSpPr>
          <p:cNvPr id="26" name="Line 26"/>
          <p:cNvCxnSpPr/>
          <p:nvPr/>
        </p:nvCxnSpPr>
        <p:spPr>
          <a:xfrm>
            <a:off x="6053328" y="2606040"/>
            <a:ext cx="100584" cy="0"/>
          </a:xfrm>
          <a:prstGeom prst="line">
            <a:avLst/>
          </a:prstGeom>
          <a:ln w="19050">
            <a:solidFill>
              <a:srgbClr val="5B7A7D"/>
            </a:solidFill>
            <a:tailEnd type="triangle" w="med" len="med"/>
          </a:ln>
        </p:spPr>
      </p:cxnSp>
      <p:sp>
        <p:nvSpPr>
          <p:cNvPr id="27" name="Shape 27"/>
          <p:cNvSpPr/>
          <p:nvPr/>
        </p:nvSpPr>
        <p:spPr>
          <a:xfrm>
            <a:off x="6172200" y="1554480"/>
            <a:ext cx="1737360" cy="2103120"/>
          </a:xfrm>
          <a:prstGeom prst="roundRect">
            <a:avLst>
              <a:gd name="adj" fmla="val 6315"/>
            </a:avLst>
          </a:prstGeom>
          <a:solidFill>
            <a:srgbClr val="E9F1F0"/>
          </a:solidFill>
          <a:ln>
            <a:noFill/>
          </a:ln>
          <a:effectLst>
            <a:outerShdw blurRad="50800" dist="254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/>
          </a:p>
        </p:txBody>
      </p:sp>
      <p:sp>
        <p:nvSpPr>
          <p:cNvPr id="28" name="Shape 28"/>
          <p:cNvSpPr/>
          <p:nvPr/>
        </p:nvSpPr>
        <p:spPr>
          <a:xfrm>
            <a:off x="6309360" y="1691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3A3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9" name="TextBox 29"/>
          <p:cNvSpPr txBox="1"/>
          <p:nvPr/>
        </p:nvSpPr>
        <p:spPr>
          <a:xfrm>
            <a:off x="6309360" y="1691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4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66560" y="16733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5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驗證</a:t>
            </a:r>
          </a:p>
          <a:p>
            <a:pPr algn="l">
              <a:buNone/>
            </a:pPr>
            <a:r>
              <a:rPr lang="zh-TW" altLang="en-US" sz="9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Solver / Critic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09360" y="2286000"/>
            <a:ext cx="1463040" cy="1371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300"/>
              </a:spcAft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照策略真的解一次</a:t>
            </a:r>
          </a:p>
          <a:p>
            <a:pPr algn="l">
              <a:spcAft>
                <a:spcPts val="300"/>
              </a:spcAft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獨立挑錯,定 status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09360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0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已建</a:t>
            </a:r>
          </a:p>
        </p:txBody>
      </p:sp>
      <p:cxnSp>
        <p:nvCxnSpPr>
          <p:cNvPr id="33" name="Line 33"/>
          <p:cNvCxnSpPr/>
          <p:nvPr/>
        </p:nvCxnSpPr>
        <p:spPr>
          <a:xfrm>
            <a:off x="7927848" y="2606040"/>
            <a:ext cx="100584" cy="0"/>
          </a:xfrm>
          <a:prstGeom prst="line">
            <a:avLst/>
          </a:prstGeom>
          <a:ln w="19050">
            <a:solidFill>
              <a:srgbClr val="5B7A7D"/>
            </a:solidFill>
            <a:tailEnd type="triangle" w="med" len="med"/>
          </a:ln>
        </p:spPr>
      </p:cxnSp>
      <p:sp>
        <p:nvSpPr>
          <p:cNvPr id="34" name="Shape 34"/>
          <p:cNvSpPr/>
          <p:nvPr/>
        </p:nvSpPr>
        <p:spPr>
          <a:xfrm>
            <a:off x="8046720" y="1554480"/>
            <a:ext cx="1737360" cy="2103120"/>
          </a:xfrm>
          <a:prstGeom prst="roundRect">
            <a:avLst>
              <a:gd name="adj" fmla="val 6315"/>
            </a:avLst>
          </a:prstGeom>
          <a:solidFill>
            <a:srgbClr val="E9F1F0"/>
          </a:solidFill>
          <a:ln>
            <a:noFill/>
          </a:ln>
          <a:effectLst>
            <a:outerShdw blurRad="50800" dist="254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/>
          </a:p>
        </p:txBody>
      </p:sp>
      <p:sp>
        <p:nvSpPr>
          <p:cNvPr id="35" name="Shape 35"/>
          <p:cNvSpPr/>
          <p:nvPr/>
        </p:nvSpPr>
        <p:spPr>
          <a:xfrm>
            <a:off x="8183880" y="1691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F3A3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6" name="TextBox 36"/>
          <p:cNvSpPr txBox="1"/>
          <p:nvPr/>
        </p:nvSpPr>
        <p:spPr>
          <a:xfrm>
            <a:off x="8183880" y="1691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4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41080" y="16733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5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讀答卷</a:t>
            </a:r>
          </a:p>
          <a:p>
            <a:pPr algn="l">
              <a:buNone/>
            </a:pPr>
            <a:r>
              <a:rPr lang="zh-TW" altLang="en-US" sz="9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Grader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83880" y="2286000"/>
            <a:ext cx="1463040" cy="1371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300"/>
              </a:spcAft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學生手寫頁 → attempt</a:t>
            </a:r>
          </a:p>
          <a:p>
            <a:pPr algn="l">
              <a:spcAft>
                <a:spcPts val="300"/>
              </a:spcAft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路線、技能證據、錯誤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183880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0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已建</a:t>
            </a:r>
          </a:p>
        </p:txBody>
      </p:sp>
      <p:cxnSp>
        <p:nvCxnSpPr>
          <p:cNvPr id="40" name="Line 40"/>
          <p:cNvCxnSpPr/>
          <p:nvPr/>
        </p:nvCxnSpPr>
        <p:spPr>
          <a:xfrm>
            <a:off x="9802368" y="2606040"/>
            <a:ext cx="100584" cy="0"/>
          </a:xfrm>
          <a:prstGeom prst="line">
            <a:avLst/>
          </a:prstGeom>
          <a:ln w="19050">
            <a:solidFill>
              <a:srgbClr val="5B7A7D"/>
            </a:solidFill>
            <a:tailEnd type="triangle" w="med" len="med"/>
          </a:ln>
        </p:spPr>
      </p:cxnSp>
      <p:sp>
        <p:nvSpPr>
          <p:cNvPr id="41" name="Shape 41"/>
          <p:cNvSpPr/>
          <p:nvPr/>
        </p:nvSpPr>
        <p:spPr>
          <a:xfrm>
            <a:off x="9921240" y="1554480"/>
            <a:ext cx="1737360" cy="210312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C9D3D2"/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42" name="Shape 42"/>
          <p:cNvSpPr/>
          <p:nvPr/>
        </p:nvSpPr>
        <p:spPr>
          <a:xfrm>
            <a:off x="10058400" y="1691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D3D2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43" name="TextBox 43"/>
          <p:cNvSpPr txBox="1"/>
          <p:nvPr/>
        </p:nvSpPr>
        <p:spPr>
          <a:xfrm>
            <a:off x="10058400" y="1691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4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515600" y="16733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5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學生模型</a:t>
            </a:r>
          </a:p>
          <a:p>
            <a:pPr algn="l">
              <a:buNone/>
            </a:pPr>
            <a:r>
              <a:rPr lang="zh-TW" altLang="en-US" sz="9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Student model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58400" y="2286000"/>
            <a:ext cx="1463040" cy="1371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300"/>
              </a:spcAft>
              <a:buNone/>
            </a:pPr>
            <a:r>
              <a:rPr lang="zh-TW" altLang="en-US" sz="11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技能掌握度、校準</a:t>
            </a:r>
          </a:p>
          <a:p>
            <a:pPr algn="l">
              <a:spcAft>
                <a:spcPts val="300"/>
              </a:spcAft>
              <a:buNone/>
            </a:pPr>
            <a:r>
              <a:rPr lang="zh-TW" altLang="en-US" sz="11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適性練習、變體生成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058400" y="3246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未做</a:t>
            </a:r>
          </a:p>
        </p:txBody>
      </p:sp>
      <p:sp>
        <p:nvSpPr>
          <p:cNvPr id="47" name="Shape 47"/>
          <p:cNvSpPr/>
          <p:nvPr/>
        </p:nvSpPr>
        <p:spPr>
          <a:xfrm>
            <a:off x="548640" y="3931920"/>
            <a:ext cx="11109960" cy="685800"/>
          </a:xfrm>
          <a:prstGeom prst="roundRect">
            <a:avLst>
              <a:gd name="adj" fmla="val 13333"/>
            </a:avLst>
          </a:prstGeom>
          <a:solidFill>
            <a:srgbClr val="1F3A3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48" name="TextBox 48"/>
          <p:cNvSpPr txBox="1"/>
          <p:nvPr/>
        </p:nvSpPr>
        <p:spPr>
          <a:xfrm>
            <a:off x="731520" y="393192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zh-TW" altLang="en-US" sz="13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共同底層:Supabase  </a:t>
            </a:r>
            <a:r>
              <a:rPr lang="zh-TW" altLang="en-US" sz="1200" b="0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papers · questions · skills · error_patterns · guide_objectives · question_analyses · students · attempts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48640" y="4846320"/>
            <a:ext cx="11109960" cy="1463040"/>
          </a:xfrm>
          <a:prstGeom prst="rect">
            <a:avLst/>
          </a:prstGeom>
          <a:noFill/>
        </p:spPr>
        <p:txBody>
          <a:bodyPr wrap="square" lIns="45720" tIns="45720" rIns="45720" bIns="45720" anchor="t" rtlCol="0"/>
          <a:lstStyle/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lang="zh-TW" altLang="en-US" sz="13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AI 只做讀和提議:</a:t>
            </a:r>
            <a:r>
              <a:rPr lang="zh-TW" altLang="en-US" sz="13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抽題、評 RPDICE、解題、挑錯、讀手寫,都是 Gemini。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lang="zh-TW" altLang="en-US" sz="13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對錯、對照、一致性由程式判:</a:t>
            </a:r>
            <a:r>
              <a:rPr lang="zh-TW" altLang="en-US" sz="13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答案對不對 marking scheme、字母和技能是否自洽、學生路線對回哪個策略,全部是固定規則,不是模型「覺得」。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lang="zh-TW" altLang="en-US" sz="13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每一層出一份人讀的 .md 報告,</a:t>
            </a:r>
            <a:r>
              <a:rPr lang="zh-TW" altLang="en-US" sz="13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有問題不會靜靜入庫;兩次 run 可以逐題對比,量得到模型的噪音。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03  第一層 · 抽題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8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一條題目入庫時,是一個有身份、有依賴、有出處的物件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4 / 15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1417320"/>
            <a:ext cx="5486400" cy="4800600"/>
          </a:xfrm>
          <a:prstGeom prst="roundRect">
            <a:avLst>
              <a:gd name="adj" fmla="val 1904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7" name="TextBox 7"/>
          <p:cNvSpPr txBox="1"/>
          <p:nvPr/>
        </p:nvSpPr>
        <p:spPr>
          <a:xfrm>
            <a:off x="777240" y="153619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3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一條題目(question object)帶着什麼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240" y="196596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question_key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77440" y="196596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重抽也不會變的 id(卷 + 題號 hash);所有分析、答卷都掛在它上面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7240" y="2542032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text / options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77440" y="2542032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題目原文、四個選項;圖表文字和圖片兩樣都保留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7240" y="3118104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diagram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77440" y="3118104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由 PDF 裁出的 PNG,Solver 和 Grader 都會看到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7240" y="3694176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answer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77440" y="369417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由 marking scheme(另一份 PDF)配對合併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7240" y="4270248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level / module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77440" y="4270248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中四、S.4、Form 4 → F4;必修 / M1 / M2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7240" y="484632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depends_on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7440" y="484632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小題靠哪條小題:(b) 用 (a) 的結果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7240" y="5422392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provenance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77440" y="5422392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頁碼、run id、model、prompt 版本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55080" y="14630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3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三道關卡</a:t>
            </a:r>
          </a:p>
        </p:txBody>
      </p:sp>
      <p:sp>
        <p:nvSpPr>
          <p:cNvPr id="23" name="Shape 23"/>
          <p:cNvSpPr/>
          <p:nvPr/>
        </p:nvSpPr>
        <p:spPr>
          <a:xfrm>
            <a:off x="6355080" y="19202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9D3D2"/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24" name="Shape 24"/>
          <p:cNvSpPr/>
          <p:nvPr/>
        </p:nvSpPr>
        <p:spPr>
          <a:xfrm>
            <a:off x="6492240" y="20848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5" name="TextBox 25"/>
          <p:cNvSpPr txBox="1"/>
          <p:nvPr/>
        </p:nvSpPr>
        <p:spPr>
          <a:xfrm>
            <a:off x="6492240" y="20848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3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95160" y="205740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3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驗證器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95160" y="2395728"/>
            <a:ext cx="4526280" cy="7315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題號連續、選項齊全、要圖的題有圖、小題依賴不成環。十幾條固定規則,有問題就列出來,不會靜靜入庫。</a:t>
            </a:r>
          </a:p>
        </p:txBody>
      </p:sp>
      <p:sp>
        <p:nvSpPr>
          <p:cNvPr id="28" name="Shape 28"/>
          <p:cNvSpPr/>
          <p:nvPr/>
        </p:nvSpPr>
        <p:spPr>
          <a:xfrm>
            <a:off x="6355080" y="32918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9D3D2"/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29" name="Shape 29"/>
          <p:cNvSpPr/>
          <p:nvPr/>
        </p:nvSpPr>
        <p:spPr>
          <a:xfrm>
            <a:off x="6492240" y="34564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0" name="TextBox 30"/>
          <p:cNvSpPr txBox="1"/>
          <p:nvPr/>
        </p:nvSpPr>
        <p:spPr>
          <a:xfrm>
            <a:off x="6492240" y="34564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3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95160" y="342900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3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.md 報告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995160" y="3767328"/>
            <a:ext cx="4526280" cy="7315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每份卷一份人讀的報告:每題原文、選項、圖、答案、出了什麼問題。老師核對的是報告,不是 JSON。</a:t>
            </a:r>
          </a:p>
        </p:txBody>
      </p:sp>
      <p:sp>
        <p:nvSpPr>
          <p:cNvPr id="33" name="Shape 33"/>
          <p:cNvSpPr/>
          <p:nvPr/>
        </p:nvSpPr>
        <p:spPr>
          <a:xfrm>
            <a:off x="6355080" y="46634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9D3D2"/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34" name="Shape 34"/>
          <p:cNvSpPr/>
          <p:nvPr/>
        </p:nvSpPr>
        <p:spPr>
          <a:xfrm>
            <a:off x="6492240" y="48280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5" name="TextBox 35"/>
          <p:cNvSpPr txBox="1"/>
          <p:nvPr/>
        </p:nvSpPr>
        <p:spPr>
          <a:xfrm>
            <a:off x="6492240" y="48280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3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95160" y="480060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3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兩次 run 對比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95160" y="5138928"/>
            <a:ext cx="4526280" cy="7315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同一份卷再抽一次,逐題比:哪題文字變了、哪題選項不同。這是捉到模型「作嘢」的唯一方法。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355080" y="60350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支援:MC · 長題 · 小題 · 圖表 · 另一份 marking scheme PDF · M1 / M2 · 批量處理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04  第二層 · 受控詞彙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8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AI 只可以「揀」,不可以「創」:每一粒技能都對回課程指引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5 / 15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1463040"/>
            <a:ext cx="1783080" cy="1325880"/>
          </a:xfrm>
          <a:prstGeom prst="roundRect">
            <a:avLst>
              <a:gd name="adj" fmla="val 6896"/>
            </a:avLst>
          </a:prstGeom>
          <a:solidFill>
            <a:srgbClr val="E9F1F0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7" name="TextBox 7"/>
          <p:cNvSpPr txBox="1"/>
          <p:nvPr/>
        </p:nvSpPr>
        <p:spPr>
          <a:xfrm>
            <a:off x="548640" y="1481328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34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556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217627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9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atomic skills</a:t>
            </a:r>
          </a:p>
          <a:p>
            <a:pPr algn="ctr">
              <a:buNone/>
            </a:pPr>
            <a:r>
              <a:rPr lang="zh-TW" altLang="en-US" sz="9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技能</a:t>
            </a:r>
          </a:p>
        </p:txBody>
      </p:sp>
      <p:sp>
        <p:nvSpPr>
          <p:cNvPr id="9" name="Shape 9"/>
          <p:cNvSpPr/>
          <p:nvPr/>
        </p:nvSpPr>
        <p:spPr>
          <a:xfrm>
            <a:off x="2468880" y="1463040"/>
            <a:ext cx="1783080" cy="1325880"/>
          </a:xfrm>
          <a:prstGeom prst="roundRect">
            <a:avLst>
              <a:gd name="adj" fmla="val 6896"/>
            </a:avLst>
          </a:prstGeom>
          <a:solidFill>
            <a:srgbClr val="E9F1F0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0" name="TextBox 10"/>
          <p:cNvSpPr txBox="1"/>
          <p:nvPr/>
        </p:nvSpPr>
        <p:spPr>
          <a:xfrm>
            <a:off x="2468880" y="1481328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34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139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68880" y="217627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9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error patterns</a:t>
            </a:r>
          </a:p>
          <a:p>
            <a:pPr algn="ctr">
              <a:buNone/>
            </a:pPr>
            <a:r>
              <a:rPr lang="zh-TW" altLang="en-US" sz="9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錯誤模式</a:t>
            </a:r>
          </a:p>
        </p:txBody>
      </p:sp>
      <p:sp>
        <p:nvSpPr>
          <p:cNvPr id="12" name="Shape 12"/>
          <p:cNvSpPr/>
          <p:nvPr/>
        </p:nvSpPr>
        <p:spPr>
          <a:xfrm>
            <a:off x="4389120" y="1463040"/>
            <a:ext cx="1783080" cy="1325880"/>
          </a:xfrm>
          <a:prstGeom prst="roundRect">
            <a:avLst>
              <a:gd name="adj" fmla="val 6896"/>
            </a:avLst>
          </a:prstGeom>
          <a:solidFill>
            <a:srgbClr val="E9F1F0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3" name="TextBox 13"/>
          <p:cNvSpPr txBox="1"/>
          <p:nvPr/>
        </p:nvSpPr>
        <p:spPr>
          <a:xfrm>
            <a:off x="4389120" y="1481328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34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328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89120" y="217627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9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學習目標</a:t>
            </a:r>
          </a:p>
          <a:p>
            <a:pPr algn="ctr">
              <a:buNone/>
            </a:pPr>
            <a:r>
              <a:rPr lang="zh-TW" altLang="en-US" sz="9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由指引 PDF 抽出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5080" y="1463040"/>
            <a:ext cx="5303520" cy="1371600"/>
          </a:xfrm>
          <a:prstGeom prst="rect">
            <a:avLst/>
          </a:prstGeom>
          <a:noFill/>
        </p:spPr>
        <p:txBody>
          <a:bodyPr wrap="square" lIns="45720" tIns="45720" rIns="45720" bIns="45720" anchor="t" rtlCol="0"/>
          <a:lstStyle/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來源:</a:t>
            </a:r>
            <a:r>
              <a:rPr lang="zh-TW" altLang="en-US" sz="12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《數學教育學習領域課程指引》(2017)及 KS3 補充文件,兩份官方 PDF 逐條抽出。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基礎 / 非基礎:</a:t>
            </a:r>
            <a:r>
              <a:rPr lang="zh-TW" altLang="en-US" sz="12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由指引的底線標記讀出;M1、M2 與延伸內容另標。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自動檢查:</a:t>
            </a:r>
            <a:r>
              <a:rPr lang="zh-TW" altLang="en-US" sz="12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id 存在、標記與指引一致、先備技能無循環、每條學習目標至少一粒技能覆蓋。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8640" y="3017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5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一粒技能長這樣(taxonomy/skills.csv)</a:t>
            </a:r>
          </a:p>
        </p:txBody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548640" y="3383280"/>
          <a:ext cx="11109960" cy="2066544"/>
        </p:xfrm>
        <a:graphic>
          <a:graphicData uri="http://schemas.openxmlformats.org/drawingml/2006/table">
            <a:tbl>
              <a:tblPr firstRow="0" bandRow="0"/>
              <a:tblGrid>
                <a:gridCol w="2331720"/>
                <a:gridCol w="2926080"/>
                <a:gridCol w="640080"/>
                <a:gridCol w="685800"/>
                <a:gridCol w="233172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skill_id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name_zh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form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 / N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prerequisites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guide_ref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onsolas"/>
                          <a:ea typeface="Consolas"/>
                          <a:cs typeface="Consolas"/>
                        </a:rPr>
                        <a:t>na.func.vertex-form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以配方法求最大 / 最小值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F4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na.quad.complete-square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CP-2.4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na.func.vertex-formula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以 x = −b/2a 求頂點再代回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F4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na.func.quadratic-graph;
na.formula.substitute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CP-2.3; CP-2.4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na.quad.solve-factor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以因式分解法解二次方程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F4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na.factor.complete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CP-1.1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ms.mensur.rect-tri-area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長方形、三角形、平行四邊形、梯形面積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F1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KS2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548640" y="5532120"/>
            <a:ext cx="11109960" cy="822960"/>
          </a:xfrm>
          <a:prstGeom prst="rect">
            <a:avLst/>
          </a:prstGeom>
          <a:noFill/>
        </p:spPr>
        <p:txBody>
          <a:bodyPr wrap="square" lIns="45720" tIns="45720" rIns="45720" bIns="45720" anchor="t" rtlCol="0"/>
          <a:lstStyle/>
          <a:p>
            <a:pPr algn="l" marL="201168" indent="-201168">
              <a:spcAft>
                <a:spcPts val="400"/>
              </a:spcAft>
              <a:buFont typeface="Arial"/>
              <a:buChar char="•"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錯誤模式也一樣受控:</a:t>
            </a:r>
            <a:r>
              <a:rPr lang="zh-TW" altLang="en-US" sz="12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每個 error 掛在特定技能下(例:err.quad.vertex-sign 掛 vertex-form / vertex-formula),或標為通用。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模型揀不到合適的,</a:t>
            </a:r>
            <a:r>
              <a:rPr lang="zh-TW" altLang="en-US" sz="12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只能放進 proposed_*,由人決定要不要加入詞彙表——詞彙表只會被人改。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05  第三層 · RPDICE(一)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8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RPDICE:一條題目的六個難度維度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6 / 15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48640" y="1417320"/>
          <a:ext cx="9418320" cy="3547872"/>
        </p:xfrm>
        <a:graphic>
          <a:graphicData uri="http://schemas.openxmlformats.org/drawingml/2006/table">
            <a:tbl>
              <a:tblPr firstRow="0" bandRow="0"/>
              <a:tblGrid>
                <a:gridCol w="502920"/>
                <a:gridCol w="1737360"/>
                <a:gridCol w="2697480"/>
                <a:gridCol w="4480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維度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問的是什麼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低 → 高 的例子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D96C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1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Recognition 認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學生要不要先「看出」什麼?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9a² − 25 一看是平方差(1)  →  方程其實是 log₂x 的二次式(3)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D96C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1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Procedure 做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程序有多長、多容易累積錯?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一次代入(1)  →  帶參數的多階段代數(3)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D96C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1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Decision 揀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有沒有方法要揀?題目有沒有提示?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「利用配方法」(0)  →  要自己設 sub-goal、輔助線(3)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D96C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1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Integration 連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要連起多少個單元的知識?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同一單元幾粒技能(1)  →  三角 + 坐標幾何(2)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D96C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1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Cognitive depth 想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順推,還是要倒推、分情況、驗證?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順序步驟(1)  →  「你是否同意」要建構論證(3)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E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D96C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1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Error exposure 錯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這題容易暴露哪一類錯誤?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符號小失誤(1)  →  錯了得出「看似合理」的答案(3)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7"/>
          <p:cNvSpPr/>
          <p:nvPr/>
        </p:nvSpPr>
        <p:spPr>
          <a:xfrm>
            <a:off x="9784080" y="1417320"/>
            <a:ext cx="1874520" cy="3566160"/>
          </a:xfrm>
          <a:prstGeom prst="roundRect">
            <a:avLst>
              <a:gd name="adj" fmla="val 4878"/>
            </a:avLst>
          </a:prstGeom>
          <a:solidFill>
            <a:srgbClr val="1F3A3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8" name="TextBox 8"/>
          <p:cNvSpPr txBox="1"/>
          <p:nvPr/>
        </p:nvSpPr>
        <p:spPr>
          <a:xfrm>
            <a:off x="9921240" y="1508760"/>
            <a:ext cx="1645920" cy="34290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600"/>
              </a:spcAft>
              <a:buNone/>
            </a:pPr>
            <a:r>
              <a:rPr lang="zh-TW" altLang="en-US" sz="1300" b="1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三個原則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15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1  不加總。</a:t>
            </a:r>
          </a:p>
          <a:p>
            <a:pPr algn="l">
              <a:spcAft>
                <a:spcPts val="800"/>
              </a:spcAft>
              <a:buNone/>
            </a:pPr>
            <a:r>
              <a:rPr lang="zh-TW" altLang="en-US" sz="1050" b="0" i="0" dirty="0">
                <a:solidFill>
                  <a:srgbClr val="DCE8E7"/>
                </a:solidFill>
                <a:latin typeface="Calibri"/>
                <a:ea typeface="Microsoft JhengHei"/>
                <a:cs typeface="Microsoft JhengHei"/>
              </a:rPr>
              <a:t>每個字母 0–3 級,是序數不是分數。一題 = 一個向量 + 哪幾個字母主導(≥ 2)。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15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2  只看題目。</a:t>
            </a:r>
          </a:p>
          <a:p>
            <a:pPr algn="l">
              <a:spcAft>
                <a:spcPts val="800"/>
              </a:spcAft>
              <a:buNone/>
            </a:pPr>
            <a:r>
              <a:rPr lang="zh-TW" altLang="en-US" sz="1050" b="0" i="0" dirty="0">
                <a:solidFill>
                  <a:srgbClr val="DCE8E7"/>
                </a:solidFill>
                <a:latin typeface="Calibri"/>
                <a:ea typeface="Microsoft JhengHei"/>
                <a:cs typeface="Microsoft JhengHei"/>
              </a:rPr>
              <a:t>不看分數、題號位置、學生數據。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15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3  可觀察。</a:t>
            </a:r>
          </a:p>
          <a:p>
            <a:pPr algn="l">
              <a:buNone/>
            </a:pPr>
            <a:r>
              <a:rPr lang="zh-TW" altLang="en-US" sz="1050" b="0" i="0" dirty="0">
                <a:solidFill>
                  <a:srgbClr val="DCE8E7"/>
                </a:solidFill>
                <a:latin typeface="Calibri"/>
                <a:ea typeface="Microsoft JhengHei"/>
                <a:cs typeface="Microsoft JhengHei"/>
              </a:rPr>
              <a:t>每一級是準則,不是形容詞:兩位老師看同一題應落同一數。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521208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BE9D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0" name="TextBox 10"/>
          <p:cNvSpPr txBox="1"/>
          <p:nvPr/>
        </p:nvSpPr>
        <p:spPr>
          <a:xfrm>
            <a:off x="731520" y="5285232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400"/>
              </a:spcAft>
              <a:buNone/>
            </a:pPr>
            <a:r>
              <a:rPr lang="zh-TW" altLang="en-US" sz="1250" b="1" i="0" dirty="0">
                <a:solidFill>
                  <a:srgbClr val="8A2E0A"/>
                </a:solidFill>
                <a:latin typeface="Calibri"/>
                <a:ea typeface="Microsoft JhengHei"/>
                <a:cs typeface="Microsoft JhengHei"/>
              </a:rPr>
              <a:t>寫法:</a:t>
            </a:r>
            <a:r>
              <a:rPr lang="zh-TW" altLang="en-US" sz="130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  R2 P2 D1 I2 C2 E1  </a:t>
            </a:r>
            <a:r>
              <a:rPr lang="zh-TW" altLang="en-US" sz="12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— 六個數字並列,不是一個總分。「這題難」在系統裡永遠是「這題難在 R 和 C」。</a:t>
            </a:r>
          </a:p>
          <a:p>
            <a:pPr algn="l">
              <a:buNone/>
            </a:pP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每一級都要附 evidence(從題目引證);Analyzer 的 prompt 由程式裡同一份標準生成,人讀的 rubric 與模型讀的是同一份字。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05  第三層 · RPDICE(二)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8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0 – 3 級的可觀察準則(摘要)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7 / 15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48640" y="1371600"/>
          <a:ext cx="11109960" cy="4352544"/>
        </p:xfrm>
        <a:graphic>
          <a:graphicData uri="http://schemas.openxmlformats.org/drawingml/2006/table">
            <a:tbl>
              <a:tblPr firstRow="0" bandRow="0"/>
              <a:tblGrid>
                <a:gridCol w="457200"/>
                <a:gridCol w="2331720"/>
                <a:gridCol w="2606040"/>
                <a:gridCol w="3017520"/>
                <a:gridCol w="26974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D96C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要處理的對象直接寫明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一個標準形式,符號本身已提示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9a² − 25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要先看出隱藏結構或重新解讀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225x² 看成 (15x)²;「兩相異交點」即 Δ &gt; 0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認出來是整題關鍵,而且沒有任何提示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方程其實是 log₂x 的二次式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D96C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讀個值、講個事實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一個短的標準程序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套一個公式、一次代入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幾個程序串起,或因分數 / 根式 / 參數 / 配方 / 長除法而變複雜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長鏈,錯誤會累積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帶參數多階段代數;要分情況的程序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D96C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題目寫明方法,或只有一個方法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「利用配方法」「由此」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課題的標準方法直接用得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兩個以上可行方法要揀,或次序有影響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平方差還是先提公因式;代數還是圖像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要自己設計策略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設 sub-goal、輔助線、輔助變量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D96C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一粒 atomic skill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同一單元幾粒技能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因式分解再解方程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兩個不同單元要連起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三角 + 坐標幾何;百分數 + 對數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三個以上單元,或要在 representation 之間轉換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幾何事實 → 代數條件 → 不等式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D96C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一步直接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順序步驟,每步由上一步決定,只向前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由結果倒推條件、分情況、檢驗 / 剔除候選解、「試解釋」要計數比較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證明、推廣、評估一個宣稱(建構論證或反例)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「某人宣稱……你是否同意」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E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D96C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沒有常見錯誤模式適用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一個學生自己會發現的小失誤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符號、算術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詞彙表裡某個 misconception 直接被觸發,或兩個以上失誤位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不等式乘負數不變向;對數底錯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幾個 misconception 同時,或錯了得出「看似合理」的答案</a:t>
                      </a:r>
                    </a:p>
                    <a:p>
                      <a:pPr algn="l"/>
                      <a:r>
                        <a:rPr lang="zh-TW" altLang="en-US" sz="850" b="0" i="1" dirty="0">
                          <a:solidFill>
                            <a:srgbClr val="5B7A7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三角方程漏第二個解</a:t>
                      </a:r>
                    </a:p>
                  </a:txBody>
                  <a:tcPr marL="54864" marR="54864" marT="36576" marB="36576" anchor="t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548640" y="5806440"/>
            <a:ext cx="11109960" cy="548640"/>
          </a:xfrm>
          <a:prstGeom prst="rect">
            <a:avLst/>
          </a:prstGeom>
          <a:noFill/>
        </p:spPr>
        <p:txBody>
          <a:bodyPr wrap="square" lIns="45720" tIns="45720" rIns="45720" bIns="45720" anchor="t" rtlCol="0"/>
          <a:lstStyle/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lang="zh-TW" altLang="en-US" sz="11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兩條硬規則:</a:t>
            </a: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題目印着「利用二次公式」「由此」「利用 (a)」→ D 最多 1;同一程序重複十次,P 不超過 2,I 也不會因重複而升。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lang="zh-TW" altLang="en-US" sz="11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完整標準:</a:t>
            </a: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docs/rpdice_rubric.md(人讀)與 app/rpdice.py 的 LEVELS(機器讀)是同一份;改標準只改一處,prompt 自動跟。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05  第三層 · RPDICE(三)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8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實例:Q24 為什麼是這份卷最難的一題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8 / 15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1371600"/>
            <a:ext cx="5120640" cy="4892040"/>
          </a:xfrm>
          <a:prstGeom prst="roundRect">
            <a:avLst>
              <a:gd name="adj" fmla="val 1869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7" name="TextBox 7"/>
          <p:cNvSpPr txBox="1"/>
          <p:nvPr/>
        </p:nvSpPr>
        <p:spPr>
          <a:xfrm>
            <a:off x="731520" y="14630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2526 中四下學期 卷二 · Q24(MC)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1520" y="178308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35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曲線 y = −2x² + 28x + 30 與 x 軸相交於 A、B 兩點,P 為曲線上一點。求 △APB 面積的最大值。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1520" y="2651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200"/>
              </a:spcAft>
              <a:buNone/>
            </a:pPr>
            <a:r>
              <a:rPr lang="zh-TW" altLang="en-US" sz="105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A. 128   B. 896   C. 960   D. 1024(平方單位)    答案 D</a:t>
            </a:r>
          </a:p>
          <a:p>
            <a:pPr algn="l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技能:配方法求極值 · 因式分解解二次方程 · 三角形面積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1520" y="30632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主策略:由截距求底,由頂點求高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1520" y="3429000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700"/>
              </a:spcAft>
              <a:buNone/>
            </a:pPr>
            <a:r>
              <a:rPr lang="zh-TW" altLang="en-US" sz="120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1  </a:t>
            </a:r>
            <a:r>
              <a:rPr lang="zh-TW" altLang="en-US" sz="12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−2x² + 28x + 30 = 0 ⇒ x² − 14x − 15 = 0 ⇒ (x − 15)(x + 1) = 0</a:t>
            </a:r>
          </a:p>
          <a:p>
            <a:pPr algn="l">
              <a:spcAft>
                <a:spcPts val="700"/>
              </a:spcAft>
              <a:buNone/>
            </a:pPr>
            <a:r>
              <a:rPr lang="zh-TW" altLang="en-US" sz="120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2  </a:t>
            </a:r>
            <a:r>
              <a:rPr lang="zh-TW" altLang="en-US" sz="12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根 −1、15,底 AB = 15 − (−1) = 16</a:t>
            </a:r>
          </a:p>
          <a:p>
            <a:pPr algn="l">
              <a:spcAft>
                <a:spcPts val="700"/>
              </a:spcAft>
              <a:buNone/>
            </a:pPr>
            <a:r>
              <a:rPr lang="zh-TW" altLang="en-US" sz="120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3  </a:t>
            </a:r>
            <a:r>
              <a:rPr lang="zh-TW" altLang="en-US" sz="12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面積最大 ⇔ P 的 y 坐標最大 ⇔ P 是頂點</a:t>
            </a:r>
          </a:p>
          <a:p>
            <a:pPr algn="l">
              <a:spcAft>
                <a:spcPts val="700"/>
              </a:spcAft>
              <a:buNone/>
            </a:pPr>
            <a:r>
              <a:rPr lang="zh-TW" altLang="en-US" sz="120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4  </a:t>
            </a:r>
            <a:r>
              <a:rPr lang="zh-TW" altLang="en-US" sz="12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頂點 x = −28 / (2 × (−2)) = 7</a:t>
            </a:r>
          </a:p>
          <a:p>
            <a:pPr algn="l">
              <a:spcAft>
                <a:spcPts val="700"/>
              </a:spcAft>
              <a:buNone/>
            </a:pPr>
            <a:r>
              <a:rPr lang="zh-TW" altLang="en-US" sz="120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5  </a:t>
            </a:r>
            <a:r>
              <a:rPr lang="zh-TW" altLang="en-US" sz="12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最大 y = −2(7)² + 28(7) + 30 = 128</a:t>
            </a:r>
          </a:p>
          <a:p>
            <a:pPr algn="l">
              <a:spcAft>
                <a:spcPts val="700"/>
              </a:spcAft>
              <a:buNone/>
            </a:pPr>
            <a:r>
              <a:rPr lang="zh-TW" altLang="en-US" sz="120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6  </a:t>
            </a:r>
            <a:r>
              <a:rPr lang="zh-TW" altLang="en-US" sz="12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最大面積 = ½ × 16 × 128 = 1024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1520" y="56692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會暴露的錯誤:err.factor.cross-wrong-pair(十字相乘配錯因子)</a:t>
            </a:r>
          </a:p>
        </p:txBody>
      </p:sp>
      <p:sp>
        <p:nvSpPr>
          <p:cNvPr id="13" name="Shape 13"/>
          <p:cNvSpPr/>
          <p:nvPr/>
        </p:nvSpPr>
        <p:spPr>
          <a:xfrm>
            <a:off x="6035040" y="1417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4" name="TextBox 14"/>
          <p:cNvSpPr txBox="1"/>
          <p:nvPr/>
        </p:nvSpPr>
        <p:spPr>
          <a:xfrm>
            <a:off x="6035040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6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R2</a:t>
            </a:r>
          </a:p>
        </p:txBody>
      </p:sp>
      <p:sp>
        <p:nvSpPr>
          <p:cNvPr id="15" name="Shape 15"/>
          <p:cNvSpPr/>
          <p:nvPr/>
        </p:nvSpPr>
        <p:spPr>
          <a:xfrm>
            <a:off x="6629400" y="1417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6" name="TextBox 16"/>
          <p:cNvSpPr txBox="1"/>
          <p:nvPr/>
        </p:nvSpPr>
        <p:spPr>
          <a:xfrm>
            <a:off x="6629400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6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P2</a:t>
            </a:r>
          </a:p>
        </p:txBody>
      </p:sp>
      <p:sp>
        <p:nvSpPr>
          <p:cNvPr id="17" name="Shape 17"/>
          <p:cNvSpPr/>
          <p:nvPr/>
        </p:nvSpPr>
        <p:spPr>
          <a:xfrm>
            <a:off x="7223760" y="1417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FB8B5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8" name="TextBox 18"/>
          <p:cNvSpPr txBox="1"/>
          <p:nvPr/>
        </p:nvSpPr>
        <p:spPr>
          <a:xfrm>
            <a:off x="7223760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6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D1</a:t>
            </a:r>
          </a:p>
        </p:txBody>
      </p:sp>
      <p:sp>
        <p:nvSpPr>
          <p:cNvPr id="19" name="Shape 19"/>
          <p:cNvSpPr/>
          <p:nvPr/>
        </p:nvSpPr>
        <p:spPr>
          <a:xfrm>
            <a:off x="7818120" y="1417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0" name="TextBox 20"/>
          <p:cNvSpPr txBox="1"/>
          <p:nvPr/>
        </p:nvSpPr>
        <p:spPr>
          <a:xfrm>
            <a:off x="7818120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6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I2</a:t>
            </a:r>
          </a:p>
        </p:txBody>
      </p:sp>
      <p:sp>
        <p:nvSpPr>
          <p:cNvPr id="21" name="Shape 21"/>
          <p:cNvSpPr/>
          <p:nvPr/>
        </p:nvSpPr>
        <p:spPr>
          <a:xfrm>
            <a:off x="8412480" y="1417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2" name="TextBox 22"/>
          <p:cNvSpPr txBox="1"/>
          <p:nvPr/>
        </p:nvSpPr>
        <p:spPr>
          <a:xfrm>
            <a:off x="8412480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6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C2</a:t>
            </a:r>
          </a:p>
        </p:txBody>
      </p:sp>
      <p:sp>
        <p:nvSpPr>
          <p:cNvPr id="23" name="Shape 23"/>
          <p:cNvSpPr/>
          <p:nvPr/>
        </p:nvSpPr>
        <p:spPr>
          <a:xfrm>
            <a:off x="9006840" y="1417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FB8B5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4" name="TextBox 24"/>
          <p:cNvSpPr txBox="1"/>
          <p:nvPr/>
        </p:nvSpPr>
        <p:spPr>
          <a:xfrm>
            <a:off x="9006840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6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E1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92640" y="14173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zh-TW" altLang="en-US" sz="1200" b="1" i="0" dirty="0">
                <a:solidFill>
                  <a:srgbClr val="8A2E0A"/>
                </a:solidFill>
                <a:latin typeface="Calibri"/>
                <a:ea typeface="Microsoft JhengHei"/>
                <a:cs typeface="Microsoft JhengHei"/>
              </a:rPr>
              <a:t>主導:R P I 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35040" y="2103120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R2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92240" y="2103120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要認出「面積最大」等於「P 在頂點」——題目沒有說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35040" y="2450592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92240" y="2450592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解二次方程求底、求頂點高、計面積,三個程序串起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35040" y="2798064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D1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92240" y="2798064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底在 x 軸上是固定的,標準方法直接用得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35040" y="3145536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I2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92240" y="3145536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二次函數(頂點)+ 面積,兩個單元要連起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35040" y="349300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C2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92240" y="3493008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把幾何最優化翻譯成函數的最大值,不是順推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35040" y="3840480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8A2E0A"/>
                </a:solidFill>
                <a:latin typeface="Consolas"/>
                <a:ea typeface="Consolas"/>
                <a:cs typeface="Consolas"/>
              </a:rPr>
              <a:t>E1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92240" y="3840480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根之差 15 − (−1) = 16,不是 14:一個自己會發現的失誤</a:t>
            </a:r>
          </a:p>
        </p:txBody>
      </p:sp>
      <p:sp>
        <p:nvSpPr>
          <p:cNvPr id="38" name="Shape 38"/>
          <p:cNvSpPr/>
          <p:nvPr/>
        </p:nvSpPr>
        <p:spPr>
          <a:xfrm>
            <a:off x="6035040" y="4343400"/>
            <a:ext cx="5623560" cy="1920240"/>
          </a:xfrm>
          <a:prstGeom prst="roundRect">
            <a:avLst>
              <a:gd name="adj" fmla="val 4761"/>
            </a:avLst>
          </a:prstGeom>
          <a:solidFill>
            <a:srgbClr val="1F3A3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9" name="TextBox 39"/>
          <p:cNvSpPr txBox="1"/>
          <p:nvPr/>
        </p:nvSpPr>
        <p:spPr>
          <a:xfrm>
            <a:off x="6217920" y="44348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00" b="1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對照 Q17:f(x) = −9 − 4x,求 f(−1)</a:t>
            </a:r>
          </a:p>
        </p:txBody>
      </p:sp>
      <p:sp>
        <p:nvSpPr>
          <p:cNvPr id="40" name="Shape 40"/>
          <p:cNvSpPr/>
          <p:nvPr/>
        </p:nvSpPr>
        <p:spPr>
          <a:xfrm>
            <a:off x="6217920" y="48006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5DED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41" name="TextBox 41"/>
          <p:cNvSpPr txBox="1"/>
          <p:nvPr/>
        </p:nvSpPr>
        <p:spPr>
          <a:xfrm>
            <a:off x="6217920" y="4800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R0</a:t>
            </a:r>
          </a:p>
        </p:txBody>
      </p:sp>
      <p:sp>
        <p:nvSpPr>
          <p:cNvPr id="42" name="Shape 42"/>
          <p:cNvSpPr/>
          <p:nvPr/>
        </p:nvSpPr>
        <p:spPr>
          <a:xfrm>
            <a:off x="6656832" y="48006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9FB8B5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43" name="TextBox 43"/>
          <p:cNvSpPr txBox="1"/>
          <p:nvPr/>
        </p:nvSpPr>
        <p:spPr>
          <a:xfrm>
            <a:off x="6656832" y="4800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P1</a:t>
            </a:r>
          </a:p>
        </p:txBody>
      </p:sp>
      <p:sp>
        <p:nvSpPr>
          <p:cNvPr id="44" name="Shape 44"/>
          <p:cNvSpPr/>
          <p:nvPr/>
        </p:nvSpPr>
        <p:spPr>
          <a:xfrm>
            <a:off x="7095744" y="48006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5DED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45" name="TextBox 45"/>
          <p:cNvSpPr txBox="1"/>
          <p:nvPr/>
        </p:nvSpPr>
        <p:spPr>
          <a:xfrm>
            <a:off x="7095744" y="4800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D0</a:t>
            </a:r>
          </a:p>
        </p:txBody>
      </p:sp>
      <p:sp>
        <p:nvSpPr>
          <p:cNvPr id="46" name="Shape 46"/>
          <p:cNvSpPr/>
          <p:nvPr/>
        </p:nvSpPr>
        <p:spPr>
          <a:xfrm>
            <a:off x="7534656" y="48006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5DED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47" name="TextBox 47"/>
          <p:cNvSpPr txBox="1"/>
          <p:nvPr/>
        </p:nvSpPr>
        <p:spPr>
          <a:xfrm>
            <a:off x="7534656" y="4800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I0</a:t>
            </a:r>
          </a:p>
        </p:txBody>
      </p:sp>
      <p:sp>
        <p:nvSpPr>
          <p:cNvPr id="48" name="Shape 48"/>
          <p:cNvSpPr/>
          <p:nvPr/>
        </p:nvSpPr>
        <p:spPr>
          <a:xfrm>
            <a:off x="7973568" y="48006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5DED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49" name="TextBox 49"/>
          <p:cNvSpPr txBox="1"/>
          <p:nvPr/>
        </p:nvSpPr>
        <p:spPr>
          <a:xfrm>
            <a:off x="7973568" y="4800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C0</a:t>
            </a:r>
          </a:p>
        </p:txBody>
      </p:sp>
      <p:sp>
        <p:nvSpPr>
          <p:cNvPr id="50" name="Shape 50"/>
          <p:cNvSpPr/>
          <p:nvPr/>
        </p:nvSpPr>
        <p:spPr>
          <a:xfrm>
            <a:off x="8412480" y="48006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9FB8B5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51" name="TextBox 51"/>
          <p:cNvSpPr txBox="1"/>
          <p:nvPr/>
        </p:nvSpPr>
        <p:spPr>
          <a:xfrm>
            <a:off x="8412480" y="4800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E1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961120" y="4800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zh-TW" altLang="en-US" sz="11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一步代入,只考負負得正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217920" y="5349240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300"/>
              </a:spcAft>
              <a:buNone/>
            </a:pPr>
            <a:r>
              <a:rPr lang="zh-TW" altLang="en-US" sz="12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Q24 的難不在「有伏」(E 只有 1),而在結構深:要認、要連、要想。</a:t>
            </a:r>
          </a:p>
          <a:p>
            <a:pPr algn="l">
              <a:buNone/>
            </a:pPr>
            <a:r>
              <a:rPr lang="zh-TW" altLang="en-US" sz="1100" b="0" i="0" dirty="0">
                <a:solidFill>
                  <a:srgbClr val="DCE8E7"/>
                </a:solidFill>
                <a:latin typeface="Calibri"/>
                <a:ea typeface="Microsoft JhengHei"/>
                <a:cs typeface="Microsoft JhengHei"/>
              </a:rPr>
              <a:t>這個分別,總分 1 分 / 0 分記不下來;六個字母記得下來。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06  RPDICE 對老師的意義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8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由「改對錯」變成「知道教什麼」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9 / 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137160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5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同一條 Q24 答錯,三個學生,三種補救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48640" y="1691640"/>
          <a:ext cx="6035040" cy="2523744"/>
        </p:xfrm>
        <a:graphic>
          <a:graphicData uri="http://schemas.openxmlformats.org/drawingml/2006/table">
            <a:tbl>
              <a:tblPr firstRow="0" bandRow="0"/>
              <a:tblGrid>
                <a:gridCol w="2148840"/>
                <a:gridCol w="914400"/>
                <a:gridCol w="29718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學生的表現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維度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老師的判斷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交白卷,或亂算一堆沒有方向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1" i="0" dirty="0">
                          <a:solidFill>
                            <a:srgbClr val="8A2E0A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不是不會計,是不知道入手點——教「拆題」,不是再操練公式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求了根、求了頂點,卻沒有把兩者接起來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1" i="0" dirty="0">
                          <a:solidFill>
                            <a:srgbClr val="8A2E0A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 / C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單元內每樣都會,跨單元不會——出綜合題,不是單元練習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答 A(128:把最大高當作面積)或 B(896:底當 14)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1" i="0" dirty="0">
                          <a:solidFill>
                            <a:srgbClr val="8A2E0A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E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概念全對,只是不小心——提醒即可,不用重教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548640" y="434340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1" i="0" dirty="0">
                <a:solidFill>
                  <a:srgbClr val="8A2E0A"/>
                </a:solidFill>
                <a:latin typeface="Calibri"/>
                <a:ea typeface="Microsoft JhengHei"/>
                <a:cs typeface="Microsoft JhengHei"/>
              </a:rPr>
              <a:t>沒有 RPDICE,三個都是「Q24 錯,再做十條類似題」。</a:t>
            </a:r>
          </a:p>
        </p:txBody>
      </p:sp>
      <p:sp>
        <p:nvSpPr>
          <p:cNvPr id="9" name="Shape 9"/>
          <p:cNvSpPr/>
          <p:nvPr/>
        </p:nvSpPr>
        <p:spPr>
          <a:xfrm>
            <a:off x="6858000" y="1371600"/>
            <a:ext cx="4800600" cy="1143000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0" name="TextBox 10"/>
          <p:cNvSpPr txBox="1"/>
          <p:nvPr/>
        </p:nvSpPr>
        <p:spPr>
          <a:xfrm>
            <a:off x="6995160" y="144475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出卷:控制「難在哪裡」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95160" y="1719072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9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這份中四卷 40 題:沒有一題任何維度到 3 級;一半(20 題)六個維度全部 ≤ 1;只有 4 題有四個維度到 2。這是一份測熟練度的卷——是不是你想要的,一眼可判。想加「要思考」的題,加的是 R2 / D2,不是把數字弄複雜(那只是 P)。</a:t>
            </a:r>
          </a:p>
        </p:txBody>
      </p:sp>
      <p:sp>
        <p:nvSpPr>
          <p:cNvPr id="12" name="Shape 12"/>
          <p:cNvSpPr/>
          <p:nvPr/>
        </p:nvSpPr>
        <p:spPr>
          <a:xfrm>
            <a:off x="6858000" y="2606040"/>
            <a:ext cx="4800600" cy="1143000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3" name="TextBox 13"/>
          <p:cNvSpPr txBox="1"/>
          <p:nvPr/>
        </p:nvSpPr>
        <p:spPr>
          <a:xfrm>
            <a:off x="6995160" y="267919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教學:逐級搭梯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95160" y="2953512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9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同一條題每次只動一個字母(下一頁),學生每一步只面對一個新難處。這是「引導」與「派簡單題」的分別。</a:t>
            </a:r>
          </a:p>
        </p:txBody>
      </p:sp>
      <p:sp>
        <p:nvSpPr>
          <p:cNvPr id="15" name="Shape 15"/>
          <p:cNvSpPr/>
          <p:nvPr/>
        </p:nvSpPr>
        <p:spPr>
          <a:xfrm>
            <a:off x="6858000" y="3840480"/>
            <a:ext cx="4800600" cy="1143000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6" name="TextBox 16"/>
          <p:cNvSpPr txBox="1"/>
          <p:nvPr/>
        </p:nvSpPr>
        <p:spPr>
          <a:xfrm>
            <a:off x="6995160" y="391363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對學生、對家長:講得出的一句話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95160" y="4187952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9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「他不是數學差,是三步以上的題接不起來(C);單步的題全對。」比「62 分」有用,學生也聽得明白該練什麼。</a:t>
            </a:r>
          </a:p>
        </p:txBody>
      </p:sp>
      <p:sp>
        <p:nvSpPr>
          <p:cNvPr id="18" name="Shape 18"/>
          <p:cNvSpPr/>
          <p:nvPr/>
        </p:nvSpPr>
        <p:spPr>
          <a:xfrm>
            <a:off x="6858000" y="5074920"/>
            <a:ext cx="4800600" cy="1143000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9" name="TextBox 19"/>
          <p:cNvSpPr txBox="1"/>
          <p:nvPr/>
        </p:nvSpPr>
        <p:spPr>
          <a:xfrm>
            <a:off x="6995160" y="514807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5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題庫:判斷可以累積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95160" y="5422392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9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每條分析過的題目帶着六個維度、技能、錯誤存進題庫。下一年出卷、下一班補底,按維度和技能搜,不靠記憶。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4937760"/>
            <a:ext cx="6035040" cy="1325880"/>
          </a:xfrm>
          <a:prstGeom prst="roundRect">
            <a:avLst>
              <a:gd name="adj" fmla="val 6896"/>
            </a:avLst>
          </a:prstGeom>
          <a:solidFill>
            <a:srgbClr val="1F3A3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2" name="TextBox 22"/>
          <p:cNvSpPr txBox="1"/>
          <p:nvPr/>
        </p:nvSpPr>
        <p:spPr>
          <a:xfrm>
            <a:off x="731520" y="5029200"/>
            <a:ext cx="5669280" cy="11887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400"/>
              </a:spcAft>
              <a:buNone/>
            </a:pPr>
            <a:r>
              <a:rPr lang="zh-TW" altLang="en-US" sz="1200" b="1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一句總結</a:t>
            </a:r>
          </a:p>
          <a:p>
            <a:pPr algn="l">
              <a:buNone/>
            </a:pPr>
            <a:r>
              <a:rPr lang="zh-TW" altLang="en-US" sz="125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RPDICE 把老師本來就有的直覺——「這題難在要先看出來」——變成可以記錄、可以比較、可以跟進的數據。系統不是取代判斷,是把判斷存下來、放大。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07  同一題,改一個維度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8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Q24 的六個變體:每次只動一個字母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10 / 15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48640" y="1371600"/>
          <a:ext cx="11109960" cy="4224528"/>
        </p:xfrm>
        <a:graphic>
          <a:graphicData uri="http://schemas.openxmlformats.org/drawingml/2006/table">
            <a:tbl>
              <a:tblPr firstRow="0" bandRow="0"/>
              <a:tblGrid>
                <a:gridCol w="3931920"/>
                <a:gridCol w="1097280"/>
                <a:gridCol w="60807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改動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字母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為什麼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加一句「當 P 為頂點時,△APB 面積最大」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b="1" i="0" dirty="0">
                          <a:solidFill>
                            <a:srgbClr val="8A2E0A"/>
                          </a:solidFill>
                          <a:latin typeface="Consolas"/>
                          <a:ea typeface="Consolas"/>
                          <a:cs typeface="Consolas"/>
                        </a:rPr>
                        <a:t>R  2 → 1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要認的東西已經寫明,剩下的是程序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加「利用配方法求頂點的 y 坐標」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b="1" i="0" dirty="0">
                          <a:solidFill>
                            <a:srgbClr val="8A2E0A"/>
                          </a:solidFill>
                          <a:latin typeface="Consolas"/>
                          <a:ea typeface="Consolas"/>
                          <a:cs typeface="Consolas"/>
                        </a:rPr>
                        <a:t>D  1 → 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題目印着方法,D 封頂在 0–1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改為 y = −3x² + 7x + 6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b="1" i="0" dirty="0">
                          <a:solidFill>
                            <a:srgbClr val="8A2E0A"/>
                          </a:solidFill>
                          <a:latin typeface="Consolas"/>
                          <a:ea typeface="Consolas"/>
                          <a:cs typeface="Consolas"/>
                        </a:rPr>
                        <a:t>P  2 → 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根 −⅔ 與 3、頂點 x = 7/6,分數運算貫穿全題,錯誤會累積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改為 y = −2x² − 28x + 30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b="1" i="0" dirty="0">
                          <a:solidFill>
                            <a:srgbClr val="8A2E0A"/>
                          </a:solidFill>
                          <a:latin typeface="Consolas"/>
                          <a:ea typeface="Consolas"/>
                          <a:cs typeface="Consolas"/>
                        </a:rPr>
                        <a:t>E  1 → 2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根 −15 與 1、頂點 x = −7,三個符號位;直接觸發「頂點符號錯」這個 misconception。答案仍是 1024——錯了也可能湊回對答案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加問「並求直線 AP 的方程」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b="1" i="0" dirty="0">
                          <a:solidFill>
                            <a:srgbClr val="8A2E0A"/>
                          </a:solidFill>
                          <a:latin typeface="Consolas"/>
                          <a:ea typeface="Consolas"/>
                          <a:cs typeface="Consolas"/>
                        </a:rPr>
                        <a:t>I  2 → 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二次函數 + 二次方程 + 面積 + 坐標幾何,四個單元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改為「有人宣稱 △APB 的面積可以超過 1000,你是否同意?試解釋。」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b="1" i="0" dirty="0">
                          <a:solidFill>
                            <a:srgbClr val="8A2E0A"/>
                          </a:solidFill>
                          <a:latin typeface="Consolas"/>
                          <a:ea typeface="Consolas"/>
                          <a:cs typeface="Consolas"/>
                        </a:rPr>
                        <a:t>C  2 → 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要評估一個宣稱、建構論證,不再是順推到一個數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7"/>
          <p:cNvSpPr/>
          <p:nvPr/>
        </p:nvSpPr>
        <p:spPr>
          <a:xfrm>
            <a:off x="548640" y="5715000"/>
            <a:ext cx="11109960" cy="548640"/>
          </a:xfrm>
          <a:prstGeom prst="roundRect">
            <a:avLst>
              <a:gd name="adj" fmla="val 16666"/>
            </a:avLst>
          </a:prstGeom>
          <a:solidFill>
            <a:srgbClr val="FBE9D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8" name="TextBox 8"/>
          <p:cNvSpPr txBox="1"/>
          <p:nvPr/>
        </p:nvSpPr>
        <p:spPr>
          <a:xfrm>
            <a:off x="731520" y="571500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zh-TW" altLang="en-US" sz="1250" b="1" i="0" dirty="0">
                <a:solidFill>
                  <a:srgbClr val="8A2E0A"/>
                </a:solidFill>
                <a:latin typeface="Calibri"/>
                <a:ea typeface="Microsoft JhengHei"/>
                <a:cs typeface="Microsoft JhengHei"/>
              </a:rPr>
              <a:t>每一步只面對一個新難處——這就是將來「出題器」生成變體的原理:不是隨機改數字,而是指定要動哪一個字母。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08  第四層 · 驗證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8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Analyzer 說的策略,不是說了就算:Solver 真的解,Critic 獨立挑錯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11 / 15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14173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E9F1F0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7" name="TextBox 7"/>
          <p:cNvSpPr txBox="1"/>
          <p:nvPr/>
        </p:nvSpPr>
        <p:spPr>
          <a:xfrm>
            <a:off x="713232" y="152704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5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Analyzer</a:t>
            </a:r>
          </a:p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提出策略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3232" y="214884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每題一個主策略,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列出步驟、技能、六個字母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3182112" y="2217420"/>
            <a:ext cx="173736" cy="0"/>
          </a:xfrm>
          <a:prstGeom prst="line">
            <a:avLst/>
          </a:prstGeom>
          <a:ln w="19050">
            <a:solidFill>
              <a:srgbClr val="5B7A7D"/>
            </a:solidFill>
            <a:tailEnd type="triangle" w="med" len="med"/>
          </a:ln>
        </p:spPr>
      </p:cxnSp>
      <p:sp>
        <p:nvSpPr>
          <p:cNvPr id="10" name="Shape 10"/>
          <p:cNvSpPr/>
          <p:nvPr/>
        </p:nvSpPr>
        <p:spPr>
          <a:xfrm>
            <a:off x="3383280" y="14173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E9F1F0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1" name="TextBox 11"/>
          <p:cNvSpPr txBox="1"/>
          <p:nvPr/>
        </p:nvSpPr>
        <p:spPr>
          <a:xfrm>
            <a:off x="3547872" y="152704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5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Solver</a:t>
            </a:r>
          </a:p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照步驟解一次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47872" y="214884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只准跟策略的步驟走;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有圖的題連圖一起送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6016752" y="2217420"/>
            <a:ext cx="173736" cy="0"/>
          </a:xfrm>
          <a:prstGeom prst="line">
            <a:avLst/>
          </a:prstGeom>
          <a:ln w="19050">
            <a:solidFill>
              <a:srgbClr val="5B7A7D"/>
            </a:solidFill>
            <a:tailEnd type="triangle" w="med" len="med"/>
          </a:ln>
        </p:spPr>
      </p:cxnSp>
      <p:sp>
        <p:nvSpPr>
          <p:cNvPr id="14" name="Shape 14"/>
          <p:cNvSpPr/>
          <p:nvPr/>
        </p:nvSpPr>
        <p:spPr>
          <a:xfrm>
            <a:off x="6217920" y="14173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F3A3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5" name="TextBox 15"/>
          <p:cNvSpPr txBox="1"/>
          <p:nvPr/>
        </p:nvSpPr>
        <p:spPr>
          <a:xfrm>
            <a:off x="6382512" y="152704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5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程式</a:t>
            </a:r>
          </a:p>
          <a:p>
            <a:pPr algn="l">
              <a:buNone/>
            </a:pPr>
            <a:r>
              <a:rPr lang="zh-TW" altLang="en-US" sz="1100" b="1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對答案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82512" y="214884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對 marking scheme;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多個策略互相對;不靠模型自評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8851392" y="2217420"/>
            <a:ext cx="173736" cy="0"/>
          </a:xfrm>
          <a:prstGeom prst="line">
            <a:avLst/>
          </a:prstGeom>
          <a:ln w="19050">
            <a:solidFill>
              <a:srgbClr val="5B7A7D"/>
            </a:solidFill>
            <a:tailEnd type="triangle" w="med" len="med"/>
          </a:ln>
        </p:spPr>
      </p:cxnSp>
      <p:sp>
        <p:nvSpPr>
          <p:cNvPr id="18" name="Shape 18"/>
          <p:cNvSpPr/>
          <p:nvPr/>
        </p:nvSpPr>
        <p:spPr>
          <a:xfrm>
            <a:off x="9052560" y="14173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E9F1F0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9" name="TextBox 19"/>
          <p:cNvSpPr txBox="1"/>
          <p:nvPr/>
        </p:nvSpPr>
        <p:spPr>
          <a:xfrm>
            <a:off x="9217152" y="152704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5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Critic</a:t>
            </a:r>
          </a:p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獨立挑錯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17152" y="214884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另一個 prompt(可另一 model),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只挑錯,不重寫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5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每個策略的結果:一個 status</a:t>
            </a:r>
          </a:p>
        </p:txBody>
      </p:sp>
      <p:sp>
        <p:nvSpPr>
          <p:cNvPr id="22" name="Shape 22"/>
          <p:cNvSpPr/>
          <p:nvPr/>
        </p:nvSpPr>
        <p:spPr>
          <a:xfrm>
            <a:off x="548640" y="3566160"/>
            <a:ext cx="1371600" cy="347472"/>
          </a:xfrm>
          <a:prstGeom prst="roundRect">
            <a:avLst>
              <a:gd name="adj" fmla="val 21052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3" name="TextBox 23"/>
          <p:cNvSpPr txBox="1"/>
          <p:nvPr/>
        </p:nvSpPr>
        <p:spPr>
          <a:xfrm>
            <a:off x="548640" y="356616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100" b="1" i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confirmed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57400" y="356616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解到、答案對、Critic 無 high issue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4023360"/>
            <a:ext cx="1371600" cy="347472"/>
          </a:xfrm>
          <a:prstGeom prst="roundRect">
            <a:avLst>
              <a:gd name="adj" fmla="val 21052"/>
            </a:avLst>
          </a:prstGeom>
          <a:solidFill>
            <a:srgbClr val="9FB8B5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6" name="TextBox 26"/>
          <p:cNvSpPr txBox="1"/>
          <p:nvPr/>
        </p:nvSpPr>
        <p:spPr>
          <a:xfrm>
            <a:off x="548640" y="402336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100" b="1" i="0" dirty="0">
                <a:solidFill>
                  <a:srgbClr val="1F3A3D"/>
                </a:solidFill>
                <a:latin typeface="Consolas"/>
                <a:ea typeface="Consolas"/>
                <a:cs typeface="Consolas"/>
              </a:rPr>
              <a:t>proposed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57400" y="402336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其餘:待人看</a:t>
            </a:r>
          </a:p>
        </p:txBody>
      </p:sp>
      <p:sp>
        <p:nvSpPr>
          <p:cNvPr id="28" name="Shape 28"/>
          <p:cNvSpPr/>
          <p:nvPr/>
        </p:nvSpPr>
        <p:spPr>
          <a:xfrm>
            <a:off x="548640" y="4480560"/>
            <a:ext cx="1371600" cy="347472"/>
          </a:xfrm>
          <a:prstGeom prst="roundRect">
            <a:avLst>
              <a:gd name="adj" fmla="val 21052"/>
            </a:avLst>
          </a:prstGeom>
          <a:solidFill>
            <a:srgbClr val="C9D3D2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9" name="TextBox 29"/>
          <p:cNvSpPr txBox="1"/>
          <p:nvPr/>
        </p:nvSpPr>
        <p:spPr>
          <a:xfrm>
            <a:off x="548640" y="448056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100" b="1" i="0" dirty="0">
                <a:solidFill>
                  <a:srgbClr val="1F3A3D"/>
                </a:solidFill>
                <a:latin typeface="Consolas"/>
                <a:ea typeface="Consolas"/>
                <a:cs typeface="Consolas"/>
              </a:rPr>
              <a:t>unverified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57400" y="448056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要看圖而 Solver 收不到圖——不算錯</a:t>
            </a:r>
          </a:p>
        </p:txBody>
      </p:sp>
      <p:sp>
        <p:nvSpPr>
          <p:cNvPr id="31" name="Shape 31"/>
          <p:cNvSpPr/>
          <p:nvPr/>
        </p:nvSpPr>
        <p:spPr>
          <a:xfrm>
            <a:off x="548640" y="4937760"/>
            <a:ext cx="1371600" cy="347472"/>
          </a:xfrm>
          <a:prstGeom prst="roundRect">
            <a:avLst>
              <a:gd name="adj" fmla="val 21052"/>
            </a:avLst>
          </a:prstGeom>
          <a:solidFill>
            <a:srgbClr val="8A2E0A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2" name="TextBox 32"/>
          <p:cNvSpPr txBox="1"/>
          <p:nvPr/>
        </p:nvSpPr>
        <p:spPr>
          <a:xfrm>
            <a:off x="548640" y="493776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100" b="1" i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rejected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57400" y="493776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>
              <a:buNone/>
            </a:pPr>
            <a:r>
              <a:rPr lang="zh-TW" altLang="en-US" sz="11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照步驟解不到答案:Analyzer 的策略有問題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48640" y="548640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每個策略有穩定的 strategy_id(由名稱 + 技能生成,重跑不變)、source(analyzer / student / teacher)。學生用另一種方法,就以 source: student 加到那題下面。</a:t>
            </a:r>
          </a:p>
        </p:txBody>
      </p:sp>
      <p:sp>
        <p:nvSpPr>
          <p:cNvPr id="35" name="Shape 35"/>
          <p:cNvSpPr/>
          <p:nvPr/>
        </p:nvSpPr>
        <p:spPr>
          <a:xfrm>
            <a:off x="6400800" y="32004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6" name="TextBox 36"/>
          <p:cNvSpPr txBox="1"/>
          <p:nvPr/>
        </p:nvSpPr>
        <p:spPr>
          <a:xfrm>
            <a:off x="6583680" y="32918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5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這份卷真跑的結果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83680" y="3611880"/>
            <a:ext cx="4937760" cy="2606040"/>
          </a:xfrm>
          <a:prstGeom prst="rect">
            <a:avLst/>
          </a:prstGeom>
          <a:noFill/>
        </p:spPr>
        <p:txBody>
          <a:bodyPr wrap="square" lIns="45720" tIns="45720" rIns="45720" bIns="45720" anchor="t" rtlCol="0"/>
          <a:lstStyle/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40 個策略全部解過;Critic 報 5 個 issue。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lang="zh-TW" altLang="en-US" sz="115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Q38  LEVEL_OVERRATED:</a:t>
            </a: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C 評 2,Critic 指全部是順推步驟,按準則應為 1。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lang="zh-TW" altLang="en-US" sz="115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Q9  SKILL_IRRELEVANT:</a:t>
            </a: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列了「二次公式」,實際是開方直接解。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lang="zh-TW" altLang="en-US" sz="115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Q7、Q20  要看圖:</a:t>
            </a: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Solver 只有文字時解不到 → 現在連圖送;仍解不到就標 unverified,不當 rejected。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lang="zh-TW" altLang="en-US" sz="115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所有 code 都是固定清單;</a:t>
            </a:r>
            <a:r>
              <a:rPr lang="zh-TW" altLang="en-US" sz="11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清單外的一律 CRITIC_OTHER。程式已報過的,Critic 不重複報。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09  誠實的一頁 · 模型會飄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8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同一份卷、同一 prompt、同一 model、temperature 0,兩天跑兩次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12 / 15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14173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E9F1F0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7" name="TextBox 7"/>
          <p:cNvSpPr txBox="1"/>
          <p:nvPr/>
        </p:nvSpPr>
        <p:spPr>
          <a:xfrm>
            <a:off x="548640" y="14630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30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28 / 40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22860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10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題有東西變了</a:t>
            </a:r>
          </a:p>
        </p:txBody>
      </p:sp>
      <p:sp>
        <p:nvSpPr>
          <p:cNvPr id="9" name="Shape 9"/>
          <p:cNvSpPr/>
          <p:nvPr/>
        </p:nvSpPr>
        <p:spPr>
          <a:xfrm>
            <a:off x="2807208" y="14173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E9F1F0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0" name="TextBox 10"/>
          <p:cNvSpPr txBox="1"/>
          <p:nvPr/>
        </p:nvSpPr>
        <p:spPr>
          <a:xfrm>
            <a:off x="2807208" y="14630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30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25 / 240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07208" y="22860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10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個字母移了一級(10%)</a:t>
            </a:r>
          </a:p>
        </p:txBody>
      </p:sp>
      <p:sp>
        <p:nvSpPr>
          <p:cNvPr id="12" name="Shape 12"/>
          <p:cNvSpPr/>
          <p:nvPr/>
        </p:nvSpPr>
        <p:spPr>
          <a:xfrm>
            <a:off x="5065776" y="14173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E9F1F0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3" name="TextBox 13"/>
          <p:cNvSpPr txBox="1"/>
          <p:nvPr/>
        </p:nvSpPr>
        <p:spPr>
          <a:xfrm>
            <a:off x="5065776" y="14630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30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65776" y="22860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10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飄得最多(7 次)</a:t>
            </a:r>
          </a:p>
        </p:txBody>
      </p:sp>
      <p:sp>
        <p:nvSpPr>
          <p:cNvPr id="15" name="Shape 15"/>
          <p:cNvSpPr/>
          <p:nvPr/>
        </p:nvSpPr>
        <p:spPr>
          <a:xfrm>
            <a:off x="7324344" y="14173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E9F1F0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6" name="TextBox 16"/>
          <p:cNvSpPr txBox="1"/>
          <p:nvPr/>
        </p:nvSpPr>
        <p:spPr>
          <a:xfrm>
            <a:off x="7324344" y="14630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30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16 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24344" y="22860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10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技能列表有變</a:t>
            </a:r>
          </a:p>
        </p:txBody>
      </p:sp>
      <p:sp>
        <p:nvSpPr>
          <p:cNvPr id="18" name="Shape 18"/>
          <p:cNvSpPr/>
          <p:nvPr/>
        </p:nvSpPr>
        <p:spPr>
          <a:xfrm>
            <a:off x="9582912" y="14173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E9F1F0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9" name="TextBox 19"/>
          <p:cNvSpPr txBox="1"/>
          <p:nvPr/>
        </p:nvSpPr>
        <p:spPr>
          <a:xfrm>
            <a:off x="9582912" y="14630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30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1 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82912" y="22860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ctr">
              <a:buNone/>
            </a:pPr>
            <a:r>
              <a:rPr lang="zh-TW" altLang="en-US" sz="10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主策略換了(Q18)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8640" y="315468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5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這代表什麼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8640" y="3474720"/>
            <a:ext cx="5394960" cy="2743200"/>
          </a:xfrm>
          <a:prstGeom prst="rect">
            <a:avLst/>
          </a:prstGeom>
          <a:noFill/>
        </p:spPr>
        <p:txBody>
          <a:bodyPr wrap="square" lIns="45720" tIns="45720" rIns="45720" bIns="45720" anchor="t" rtlCol="0"/>
          <a:lstStyle/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lang="zh-TW" altLang="en-US" sz="12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大部分是 1 與 2 之間的邊界題;方向不一致,不是系統性偏高或偏低。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lang="zh-TW" altLang="en-US" sz="125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這是噪音下限。</a:t>
            </a:r>
            <a:r>
              <a:rPr lang="zh-TW" altLang="en-US" sz="12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任何 prompt 或標準的改動,要贏過這個數才算改進;否則只是換了一種隨機。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lang="zh-TW" altLang="en-US" sz="12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技能列表的變動多數是「多列了一粒先備技能」,已由程式用先備關係吸收,不再報錯。</a:t>
            </a:r>
          </a:p>
        </p:txBody>
      </p:sp>
      <p:sp>
        <p:nvSpPr>
          <p:cNvPr id="23" name="Shape 23"/>
          <p:cNvSpPr/>
          <p:nvPr/>
        </p:nvSpPr>
        <p:spPr>
          <a:xfrm>
            <a:off x="6263640" y="3154680"/>
            <a:ext cx="5394960" cy="2331720"/>
          </a:xfrm>
          <a:prstGeom prst="roundRect">
            <a:avLst>
              <a:gd name="adj" fmla="val 3921"/>
            </a:avLst>
          </a:prstGeom>
          <a:solidFill>
            <a:srgbClr val="1F3A3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4" name="TextBox 24"/>
          <p:cNvSpPr txBox="1"/>
          <p:nvPr/>
        </p:nvSpPr>
        <p:spPr>
          <a:xfrm>
            <a:off x="6446520" y="32461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50" b="1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我們怎樣對付它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46520" y="3611880"/>
            <a:ext cx="5029200" cy="2606040"/>
          </a:xfrm>
          <a:prstGeom prst="rect">
            <a:avLst/>
          </a:prstGeom>
          <a:noFill/>
        </p:spPr>
        <p:txBody>
          <a:bodyPr wrap="square" lIns="45720" tIns="45720" rIns="45720" bIns="45720" anchor="t" rtlCol="0"/>
          <a:lstStyle/>
          <a:p>
            <a:pPr algn="l" marL="201168" indent="-201168">
              <a:spcAft>
                <a:spcPts val="600"/>
              </a:spcAft>
              <a:buClr>
                <a:srgbClr val="D96C2F"/>
              </a:buClr>
              <a:buFont typeface="Arial"/>
              <a:buChar char="•"/>
            </a:pPr>
            <a:r>
              <a:rPr lang="zh-TW" altLang="en-US" sz="12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量:</a:t>
            </a:r>
            <a:r>
              <a:rPr lang="zh-TW" altLang="en-US" sz="12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diff_analyses 一條命令,逐題列出哪個字母、哪粒技能、主策略有沒有換。</a:t>
            </a:r>
          </a:p>
          <a:p>
            <a:pPr algn="l" marL="201168" indent="-201168">
              <a:spcAft>
                <a:spcPts val="600"/>
              </a:spcAft>
              <a:buClr>
                <a:srgbClr val="D96C2F"/>
              </a:buClr>
              <a:buFont typeface="Arial"/>
              <a:buChar char="•"/>
            </a:pPr>
            <a:r>
              <a:rPr lang="zh-TW" altLang="en-US" sz="12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錨:</a:t>
            </a:r>
            <a:r>
              <a:rPr lang="zh-TW" altLang="en-US" sz="12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30 條人手評分的黃金集,每次改 prompt 都對回去(每個維度 exact / ±1 / 偏向)。這 30 條需要老師核對。</a:t>
            </a:r>
          </a:p>
          <a:p>
            <a:pPr algn="l" marL="201168" indent="-201168">
              <a:spcAft>
                <a:spcPts val="600"/>
              </a:spcAft>
              <a:buClr>
                <a:srgbClr val="D96C2F"/>
              </a:buClr>
              <a:buFont typeface="Arial"/>
              <a:buChar char="•"/>
            </a:pPr>
            <a:r>
              <a:rPr lang="zh-TW" altLang="en-US" sz="12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驗:</a:t>
            </a:r>
            <a:r>
              <a:rPr lang="zh-TW" altLang="en-US" sz="12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Solver / Critic 是第二層獨立意見,已捉到 Q38 的 C 評高。</a:t>
            </a:r>
          </a:p>
          <a:p>
            <a:pPr algn="l" marL="201168" indent="-201168">
              <a:spcAft>
                <a:spcPts val="500"/>
              </a:spcAft>
              <a:buClr>
                <a:srgbClr val="D96C2F"/>
              </a:buClr>
              <a:buFont typeface="Arial"/>
              <a:buChar char="•"/>
            </a:pPr>
            <a:r>
              <a:rPr lang="zh-TW" altLang="en-US" sz="12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下一步:</a:t>
            </a:r>
            <a:r>
              <a:rPr lang="zh-TW" altLang="en-US" sz="12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同一題跑 N 次取眾數。等多幾份卷的數據再定 N。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8640" y="57607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完整逐題差異:docs/deviations_from_guide.md §46;命令:python3 -m scripts.diff_analyses 2526_2nd_S4MATH2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10  第五層 · 讀學生手寫頁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8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第一張真答卷:Q24,答對,但不是「全對」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13 / 15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5000" t="6000" r="5000" b="36000"/>
          <a:stretch>
            <a:fillRect/>
          </a:stretch>
        </p:blipFill>
        <p:spPr>
          <a:xfrm>
            <a:off x="548640" y="1371600"/>
            <a:ext cx="3246120" cy="3017520"/>
          </a:xfrm>
          <a:prstGeom prst="rect">
            <a:avLst/>
          </a:prstGeom>
          <a:ln w="9525">
            <a:solidFill>
              <a:srgbClr val="C9D3D2"/>
            </a:solidFill>
          </a:ln>
        </p:spPr>
      </p:pic>
      <p:sp>
        <p:nvSpPr>
          <p:cNvPr id="7" name="TextBox 7"/>
          <p:cNvSpPr txBox="1"/>
          <p:nvPr/>
        </p:nvSpPr>
        <p:spPr>
          <a:xfrm>
            <a:off x="548640" y="4434840"/>
            <a:ext cx="3246120" cy="2286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9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同一頁底部:圈了 D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l="5000" t="72000" r="45000" b="12000"/>
          <a:stretch>
            <a:fillRect/>
          </a:stretch>
        </p:blipFill>
        <p:spPr>
          <a:xfrm>
            <a:off x="548640" y="4663440"/>
            <a:ext cx="3246120" cy="1463040"/>
          </a:xfrm>
          <a:prstGeom prst="rect">
            <a:avLst/>
          </a:prstGeom>
          <a:ln w="9525">
            <a:solidFill>
              <a:srgbClr val="C9D3D2"/>
            </a:solidFill>
          </a:ln>
        </p:spPr>
      </p:pic>
      <p:sp>
        <p:nvSpPr>
          <p:cNvPr id="9" name="TextBox 9"/>
          <p:cNvSpPr txBox="1"/>
          <p:nvPr/>
        </p:nvSpPr>
        <p:spPr>
          <a:xfrm>
            <a:off x="3977640" y="137160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模型逐行照抄(寫錯也照抄,不准修正)</a:t>
            </a:r>
          </a:p>
        </p:txBody>
      </p:sp>
      <p:sp>
        <p:nvSpPr>
          <p:cNvPr id="10" name="Shape 10"/>
          <p:cNvSpPr/>
          <p:nvPr/>
        </p:nvSpPr>
        <p:spPr>
          <a:xfrm>
            <a:off x="3977640" y="1691640"/>
            <a:ext cx="3566160" cy="2697480"/>
          </a:xfrm>
          <a:prstGeom prst="roundRect">
            <a:avLst>
              <a:gd name="adj" fmla="val 2711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1" name="TextBox 11"/>
          <p:cNvSpPr txBox="1"/>
          <p:nvPr/>
        </p:nvSpPr>
        <p:spPr>
          <a:xfrm>
            <a:off x="4114800" y="1783080"/>
            <a:ext cx="3383280" cy="2926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onsolas"/>
                <a:ea typeface="Consolas"/>
                <a:cs typeface="Consolas"/>
              </a:rPr>
              <a:t>頂點的x坐標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onsolas"/>
                <a:ea typeface="Consolas"/>
                <a:cs typeface="Consolas"/>
              </a:rPr>
              <a:t>x = 28 / 2(−2) = 7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onsolas"/>
                <a:ea typeface="Consolas"/>
                <a:cs typeface="Consolas"/>
              </a:rPr>
              <a:t>y = 2(7)² + 28(7) + 30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onsolas"/>
                <a:ea typeface="Consolas"/>
                <a:cs typeface="Consolas"/>
              </a:rPr>
              <a:t>  = −98 + 196 + 30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onsolas"/>
                <a:ea typeface="Consolas"/>
                <a:cs typeface="Consolas"/>
              </a:rPr>
              <a:t>  = 128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onsolas"/>
                <a:ea typeface="Consolas"/>
                <a:cs typeface="Consolas"/>
              </a:rPr>
              <a:t>∵ a = −2 &lt; 0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onsolas"/>
                <a:ea typeface="Consolas"/>
                <a:cs typeface="Consolas"/>
              </a:rPr>
              <a:t>y_max = 128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onsolas"/>
                <a:ea typeface="Consolas"/>
                <a:cs typeface="Consolas"/>
              </a:rPr>
              <a:t>最大面積 : [ΔAPB]_max = ½ × 16 × 128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onsolas"/>
                <a:ea typeface="Consolas"/>
                <a:cs typeface="Consolas"/>
              </a:rPr>
              <a:t>  = 8 × 128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onsolas"/>
                <a:ea typeface="Consolas"/>
                <a:cs typeface="Consolas"/>
              </a:rPr>
              <a:t>  = 1024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77640" y="4526280"/>
            <a:ext cx="3566160" cy="17373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400"/>
              </a:spcAft>
              <a:buNone/>
            </a:pPr>
            <a:r>
              <a:rPr lang="zh-TW" altLang="en-US" sz="10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兩處抄寫失誤(slip)被保留:漏了 −b/2a 的負號、漏了 −2(7)² 的負號——結果卻是對的。</a:t>
            </a:r>
          </a:p>
          <a:p>
            <a:pPr algn="l">
              <a:buNone/>
            </a:pPr>
            <a:r>
              <a:rPr lang="zh-TW" altLang="en-US" sz="10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模型不會收到標準答案;否則它會「好心」把 2(7)² 讀成 −2(7)²,slip 就消失了。</a:t>
            </a:r>
          </a:p>
        </p:txBody>
      </p:sp>
      <p:sp>
        <p:nvSpPr>
          <p:cNvPr id="13" name="Shape 13"/>
          <p:cNvSpPr/>
          <p:nvPr/>
        </p:nvSpPr>
        <p:spPr>
          <a:xfrm>
            <a:off x="7772400" y="1371600"/>
            <a:ext cx="3886200" cy="4892040"/>
          </a:xfrm>
          <a:prstGeom prst="roundRect">
            <a:avLst>
              <a:gd name="adj" fmla="val 2352"/>
            </a:avLst>
          </a:prstGeom>
          <a:solidFill>
            <a:srgbClr val="1F3A3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4" name="TextBox 14"/>
          <p:cNvSpPr txBox="1"/>
          <p:nvPr/>
        </p:nvSpPr>
        <p:spPr>
          <a:xfrm>
            <a:off x="7955280" y="14630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50" b="1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程式對回題目的分析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55280" y="18288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5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對錯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23960" y="1828800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100"/>
              </a:spcAft>
              <a:buNone/>
            </a:pPr>
            <a:r>
              <a:rPr lang="zh-TW" altLang="en-US" sz="10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答對:D(1024)。對照來源:Solver 確認的答案(這份卷沒有 marking scheme)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55280" y="240487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5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路線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23960" y="2404872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100"/>
              </a:spcAft>
              <a:buNone/>
            </a:pPr>
            <a:r>
              <a:rPr lang="zh-TW" altLang="en-US" sz="10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對回主策略 4d318b39052c:由頂點求高。學生沒有解方程,底 16 直接寫出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55280" y="298094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5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技能證據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23960" y="2980944"/>
            <a:ext cx="2743200" cy="1042416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100"/>
              </a:spcAft>
              <a:buNone/>
            </a:pPr>
            <a:r>
              <a:rPr lang="zh-TW" altLang="en-US" sz="10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✓ 三角形面積</a:t>
            </a:r>
          </a:p>
          <a:p>
            <a:pPr algn="l">
              <a:spcAft>
                <a:spcPts val="100"/>
              </a:spcAft>
              <a:buNone/>
            </a:pPr>
            <a:r>
              <a:rPr lang="zh-TW" altLang="en-US" sz="10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✓ x = −b/2a 求頂點(改用了公式法,不是配方法)</a:t>
            </a:r>
          </a:p>
          <a:p>
            <a:pPr algn="l">
              <a:spcAft>
                <a:spcPts val="100"/>
              </a:spcAft>
              <a:buNone/>
            </a:pPr>
            <a:r>
              <a:rPr lang="zh-TW" altLang="en-US" sz="10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✗ 因式分解解二次方程:紙上沒有證據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55280" y="405079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5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錯誤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23960" y="4050792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100"/>
              </a:spcAft>
              <a:buNone/>
            </a:pPr>
            <a:r>
              <a:rPr lang="zh-TW" altLang="en-US" sz="10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2 個 slip(漏負號,結果正確);沒有 misconception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55280" y="462686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50" b="1" i="0" dirty="0">
                <a:solidFill>
                  <a:srgbClr val="D96C2F"/>
                </a:solidFill>
                <a:latin typeface="Calibri"/>
                <a:ea typeface="Microsoft JhengHei"/>
                <a:cs typeface="Microsoft JhengHei"/>
              </a:rPr>
              <a:t>信心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23960" y="4626864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100"/>
              </a:spcAft>
              <a:buNone/>
            </a:pPr>
            <a:r>
              <a:rPr lang="zh-TW" altLang="en-US" sz="1000" b="0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0.95;不需要人手覆核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55280" y="553212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「答對但不是全對」——MC 的 ✓ 記不到,attempt 記得到。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640" y="29260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10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11  數據模型與下一步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8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已建的六張表,和它們要餵的三件未做的事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r">
              <a:buNone/>
            </a:pPr>
            <a:r>
              <a:rPr lang="zh-TW" altLang="en-US" sz="100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14 / 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137160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5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Supabase 裡的表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48640" y="1691640"/>
          <a:ext cx="5760720" cy="3227832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1417320"/>
                <a:gridCol w="26060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表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一行是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1" i="0" dirty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關鍵欄位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1F3A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papers · questions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一份卷、一條題目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question_key(穩定 id)、text、options、diagram、answer、level、depends_on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skills · error_patterns · guide_objectives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一粒技能 / 一個錯誤 / 一條學習目標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guide_ref、foundation、prerequisites;error 掛哪些 skills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question_analyses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一條題目一次 run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strategies(jsonb:strategy_id、source、status、六個字母 + evidence)、solutions、critic_issues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4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students · attempts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一個學生一次作答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950" b="0" i="0" dirty="0">
                          <a:solidFill>
                            <a:srgbClr val="1F3A3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strategy_id、skills_evidenced、skills_not_evidenced、errors_observed、verdict、needs_human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3D2"/>
                      </a:solidFill>
                    </a:lnL>
                    <a:lnR w="6350">
                      <a:solidFill>
                        <a:srgbClr val="C9D3D2"/>
                      </a:solidFill>
                    </a:lnR>
                    <a:lnT w="6350">
                      <a:solidFill>
                        <a:srgbClr val="C9D3D2"/>
                      </a:solidFill>
                    </a:lnT>
                    <a:lnB w="6350">
                      <a:solidFill>
                        <a:srgbClr val="C9D3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548640" y="5074920"/>
            <a:ext cx="5760720" cy="118872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50" b="0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attempts.strategy_id 指回 question_analyses 裡的策略:學生走的路線與題目的分析是同一套 id。學生用了新方法,就以 source: student 加回那條題目。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83680" y="13716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50" b="1" i="0" dirty="0">
                <a:solidFill>
                  <a:srgbClr val="5B7A7D"/>
                </a:solidFill>
                <a:latin typeface="Calibri"/>
                <a:ea typeface="Microsoft JhengHei"/>
                <a:cs typeface="Microsoft JhengHei"/>
              </a:rPr>
              <a:t>未做的三件事(按這個次序)</a:t>
            </a:r>
          </a:p>
        </p:txBody>
      </p:sp>
      <p:sp>
        <p:nvSpPr>
          <p:cNvPr id="10" name="Shape 10"/>
          <p:cNvSpPr/>
          <p:nvPr/>
        </p:nvSpPr>
        <p:spPr>
          <a:xfrm>
            <a:off x="6583680" y="1737360"/>
            <a:ext cx="5074920" cy="105156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C9D3D2"/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11" name="Shape 11"/>
          <p:cNvSpPr/>
          <p:nvPr/>
        </p:nvSpPr>
        <p:spPr>
          <a:xfrm>
            <a:off x="6720840" y="18745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9D3D2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2" name="TextBox 12"/>
          <p:cNvSpPr txBox="1"/>
          <p:nvPr/>
        </p:nvSpPr>
        <p:spPr>
          <a:xfrm>
            <a:off x="6720840" y="1874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3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23760" y="1847088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學生模型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23760" y="214884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由 attempts 聚合出每個學生每粒技能的掌握度(skill_mastery):證據次數、slip 與 misconception 的比例、最近一次。</a:t>
            </a:r>
          </a:p>
        </p:txBody>
      </p:sp>
      <p:sp>
        <p:nvSpPr>
          <p:cNvPr id="15" name="Shape 15"/>
          <p:cNvSpPr/>
          <p:nvPr/>
        </p:nvSpPr>
        <p:spPr>
          <a:xfrm>
            <a:off x="6583680" y="2898648"/>
            <a:ext cx="5074920" cy="105156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C9D3D2"/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16" name="Shape 16"/>
          <p:cNvSpPr/>
          <p:nvPr/>
        </p:nvSpPr>
        <p:spPr>
          <a:xfrm>
            <a:off x="6720840" y="3035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9D3D2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7" name="TextBox 17"/>
          <p:cNvSpPr txBox="1"/>
          <p:nvPr/>
        </p:nvSpPr>
        <p:spPr>
          <a:xfrm>
            <a:off x="6720840" y="30358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3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23760" y="3008376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校準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23760" y="3310128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RPDICE 是「題目應該有多難」,attempts 是「實際有多難」。兩者對回去:E 對真實錯誤率、C 對答錯的分佈,調準標準。</a:t>
            </a:r>
          </a:p>
        </p:txBody>
      </p:sp>
      <p:sp>
        <p:nvSpPr>
          <p:cNvPr id="20" name="Shape 20"/>
          <p:cNvSpPr/>
          <p:nvPr/>
        </p:nvSpPr>
        <p:spPr>
          <a:xfrm>
            <a:off x="6583680" y="4059936"/>
            <a:ext cx="5074920" cy="105156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C9D3D2"/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21" name="Shape 21"/>
          <p:cNvSpPr/>
          <p:nvPr/>
        </p:nvSpPr>
        <p:spPr>
          <a:xfrm>
            <a:off x="6720840" y="41970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9D3D2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2" name="TextBox 22"/>
          <p:cNvSpPr txBox="1"/>
          <p:nvPr/>
        </p:nvSpPr>
        <p:spPr>
          <a:xfrm>
            <a:off x="6720840" y="419709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3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23760" y="4169664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00" b="1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適性練習 / 出題器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23760" y="4471416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00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按第 10 頁的原理生成變體:指定要動哪個字母,對着哪粒技能,給哪個學生。</a:t>
            </a:r>
          </a:p>
        </p:txBody>
      </p:sp>
      <p:sp>
        <p:nvSpPr>
          <p:cNvPr id="25" name="Shape 25"/>
          <p:cNvSpPr/>
          <p:nvPr/>
        </p:nvSpPr>
        <p:spPr>
          <a:xfrm>
            <a:off x="6583680" y="5257800"/>
            <a:ext cx="5074920" cy="1005840"/>
          </a:xfrm>
          <a:prstGeom prst="roundRect">
            <a:avLst>
              <a:gd name="adj" fmla="val 9090"/>
            </a:avLst>
          </a:prstGeom>
          <a:solidFill>
            <a:srgbClr val="FBE9DD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6" name="TextBox 26"/>
          <p:cNvSpPr txBox="1"/>
          <p:nvPr/>
        </p:nvSpPr>
        <p:spPr>
          <a:xfrm>
            <a:off x="6720840" y="532180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spcAft>
                <a:spcPts val="300"/>
              </a:spcAft>
              <a:buNone/>
            </a:pPr>
            <a:r>
              <a:rPr lang="zh-TW" altLang="en-US" sz="1150" b="1" i="0" dirty="0">
                <a:solidFill>
                  <a:srgbClr val="8A2E0A"/>
                </a:solidFill>
                <a:latin typeface="Calibri"/>
                <a:ea typeface="Microsoft JhengHei"/>
                <a:cs typeface="Microsoft JhengHei"/>
              </a:rPr>
              <a:t>需要老師的兩件事</a:t>
            </a:r>
          </a:p>
          <a:p>
            <a:pPr algn="l">
              <a:spcAft>
                <a:spcPts val="200"/>
              </a:spcAft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① 核對 30 條黃金集的 RPDICE 評分(標準的可靠度由此決定)</a:t>
            </a:r>
          </a:p>
          <a:p>
            <a:pPr algn="l">
              <a:buNone/>
            </a:pPr>
            <a:r>
              <a:rPr lang="zh-TW" altLang="en-US" sz="1050" b="0" i="0" dirty="0">
                <a:solidFill>
                  <a:srgbClr val="1F3A3D"/>
                </a:solidFill>
                <a:latin typeface="Calibri"/>
                <a:ea typeface="Microsoft JhengHei"/>
                <a:cs typeface="Microsoft JhengHei"/>
              </a:rPr>
              <a:t>② 更多學生手寫頁:答錯的、用另一路線的、字跡差的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200" b="1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收尾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40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三句話</a:t>
            </a:r>
          </a:p>
        </p:txBody>
      </p:sp>
      <p:sp>
        <p:nvSpPr>
          <p:cNvPr id="5" name="Shape 5"/>
          <p:cNvSpPr/>
          <p:nvPr/>
        </p:nvSpPr>
        <p:spPr>
          <a:xfrm>
            <a:off x="731520" y="23317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6" name="TextBox 6"/>
          <p:cNvSpPr txBox="1"/>
          <p:nvPr/>
        </p:nvSpPr>
        <p:spPr>
          <a:xfrm>
            <a:off x="731520" y="2331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8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7320" y="228600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0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題目變成數據。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7320" y="271576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300" b="0" i="0" dirty="0">
                <a:solidFill>
                  <a:srgbClr val="DCE8E7"/>
                </a:solidFill>
                <a:latin typeface="Calibri"/>
                <a:ea typeface="Microsoft JhengHei"/>
                <a:cs typeface="Microsoft JhengHei"/>
              </a:rPr>
              <a:t>六個維度、技能、錯誤,全部對回課程指引;不是一個總分,是一個可以搜、可以比的向量。</a:t>
            </a:r>
          </a:p>
        </p:txBody>
      </p:sp>
      <p:sp>
        <p:nvSpPr>
          <p:cNvPr id="9" name="Shape 9"/>
          <p:cNvSpPr/>
          <p:nvPr/>
        </p:nvSpPr>
        <p:spPr>
          <a:xfrm>
            <a:off x="731520" y="3520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0" name="TextBox 10"/>
          <p:cNvSpPr txBox="1"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8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7320" y="347472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0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AI 讀,程式判,人核對。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7320" y="390448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300" b="0" i="0" dirty="0">
                <a:solidFill>
                  <a:srgbClr val="DCE8E7"/>
                </a:solidFill>
                <a:latin typeface="Calibri"/>
                <a:ea typeface="Microsoft JhengHei"/>
                <a:cs typeface="Microsoft JhengHei"/>
              </a:rPr>
              <a:t>每一層有報告、有驗證、有噪音的量度;不合格的不會靜靜入庫。</a:t>
            </a:r>
          </a:p>
        </p:txBody>
      </p:sp>
      <p:sp>
        <p:nvSpPr>
          <p:cNvPr id="13" name="Shape 13"/>
          <p:cNvSpPr/>
          <p:nvPr/>
        </p:nvSpPr>
        <p:spPr>
          <a:xfrm>
            <a:off x="731520" y="47091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4" name="TextBox 14"/>
          <p:cNvSpPr txBox="1"/>
          <p:nvPr/>
        </p:nvSpPr>
        <p:spPr>
          <a:xfrm>
            <a:off x="731520" y="4709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8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7320" y="466344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20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下一步從學生的手寫頁開始。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7320" y="509320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300" b="0" i="0" dirty="0">
                <a:solidFill>
                  <a:srgbClr val="DCE8E7"/>
                </a:solidFill>
                <a:latin typeface="Calibri"/>
                <a:ea typeface="Microsoft JhengHei"/>
                <a:cs typeface="Microsoft JhengHei"/>
              </a:rPr>
              <a:t>第一張真卷已經證明可行;要走到學生模型,需要你們的卷、你們核對的 30 條黃金集。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 rtlCol="0"/>
          <a:lstStyle/>
          <a:p>
            <a:pPr algn="l">
              <a:buNone/>
            </a:pPr>
            <a:r>
              <a:rPr lang="zh-TW" altLang="en-US" sz="1600" b="1" i="0" dirty="0">
                <a:solidFill>
                  <a:srgbClr val="B8CCCA"/>
                </a:solidFill>
                <a:latin typeface="Calibri"/>
                <a:ea typeface="Microsoft JhengHei"/>
                <a:cs typeface="Microsoft JhengHei"/>
              </a:rPr>
              <a:t>Q &amp; A</a:t>
            </a:r>
          </a:p>
        </p:txBody>
      </p:sp>
      <p:sp>
        <p:nvSpPr>
          <p:cNvPr id="18" name="Shape 18"/>
          <p:cNvSpPr/>
          <p:nvPr/>
        </p:nvSpPr>
        <p:spPr>
          <a:xfrm>
            <a:off x="8595360" y="58978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9" name="TextBox 19"/>
          <p:cNvSpPr txBox="1"/>
          <p:nvPr/>
        </p:nvSpPr>
        <p:spPr>
          <a:xfrm>
            <a:off x="8595360" y="58978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3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20" name="Shape 20"/>
          <p:cNvSpPr/>
          <p:nvPr/>
        </p:nvSpPr>
        <p:spPr>
          <a:xfrm>
            <a:off x="9098280" y="58978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2E545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1" name="TextBox 21"/>
          <p:cNvSpPr txBox="1"/>
          <p:nvPr/>
        </p:nvSpPr>
        <p:spPr>
          <a:xfrm>
            <a:off x="9098280" y="58978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3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P</a:t>
            </a:r>
          </a:p>
        </p:txBody>
      </p:sp>
      <p:sp>
        <p:nvSpPr>
          <p:cNvPr id="22" name="Shape 22"/>
          <p:cNvSpPr/>
          <p:nvPr/>
        </p:nvSpPr>
        <p:spPr>
          <a:xfrm>
            <a:off x="9601200" y="58978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3" name="TextBox 23"/>
          <p:cNvSpPr txBox="1"/>
          <p:nvPr/>
        </p:nvSpPr>
        <p:spPr>
          <a:xfrm>
            <a:off x="9601200" y="58978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3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24" name="Shape 24"/>
          <p:cNvSpPr/>
          <p:nvPr/>
        </p:nvSpPr>
        <p:spPr>
          <a:xfrm>
            <a:off x="10104120" y="58978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2E545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5" name="TextBox 25"/>
          <p:cNvSpPr txBox="1"/>
          <p:nvPr/>
        </p:nvSpPr>
        <p:spPr>
          <a:xfrm>
            <a:off x="10104120" y="58978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3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I</a:t>
            </a:r>
          </a:p>
        </p:txBody>
      </p:sp>
      <p:sp>
        <p:nvSpPr>
          <p:cNvPr id="26" name="Shape 26"/>
          <p:cNvSpPr/>
          <p:nvPr/>
        </p:nvSpPr>
        <p:spPr>
          <a:xfrm>
            <a:off x="10607040" y="58978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D96C2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7" name="TextBox 27"/>
          <p:cNvSpPr txBox="1"/>
          <p:nvPr/>
        </p:nvSpPr>
        <p:spPr>
          <a:xfrm>
            <a:off x="10607040" y="58978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3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28" name="Shape 28"/>
          <p:cNvSpPr/>
          <p:nvPr/>
        </p:nvSpPr>
        <p:spPr>
          <a:xfrm>
            <a:off x="11109960" y="58978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2E545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9" name="TextBox 29"/>
          <p:cNvSpPr txBox="1"/>
          <p:nvPr/>
        </p:nvSpPr>
        <p:spPr>
          <a:xfrm>
            <a:off x="11109960" y="58978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>
              <a:buNone/>
            </a:pPr>
            <a:r>
              <a:rPr lang="zh-TW" altLang="en-US" sz="1300" b="1" i="0" dirty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QS">
  <a:themeElements>
    <a:clrScheme name="MQS">
      <a:dk1>
        <a:srgbClr val="1F3A3D"/>
      </a:dk1>
      <a:lt1>
        <a:srgbClr val="FFFFFF"/>
      </a:lt1>
      <a:dk2>
        <a:srgbClr val="5B7A7D"/>
      </a:dk2>
      <a:lt2>
        <a:srgbClr val="E9F1F0"/>
      </a:lt2>
      <a:accent1>
        <a:srgbClr val="D96C2F"/>
      </a:accent1>
      <a:accent2>
        <a:srgbClr val="5B7A7D"/>
      </a:accent2>
      <a:accent3>
        <a:srgbClr val="9FB8B5"/>
      </a:accent3>
      <a:accent4>
        <a:srgbClr val="F3D9C8"/>
      </a:accent4>
      <a:accent5>
        <a:srgbClr val="8A2E0A"/>
      </a:accent5>
      <a:accent6>
        <a:srgbClr val="C9D3D2"/>
      </a:accent6>
      <a:hlink>
        <a:srgbClr val="D96C2F"/>
      </a:hlink>
      <a:folHlink>
        <a:srgbClr val="5B7A7D"/>
      </a:folHlink>
    </a:clrScheme>
    <a:fontScheme name="MQS">
      <a:majorFont>
        <a:latin typeface="Calibri"/>
        <a:ea typeface="Microsoft JhengHei"/>
        <a:cs typeface=""/>
      </a:majorFont>
      <a:minorFont>
        <a:latin typeface="Calibri"/>
        <a:ea typeface="Microsoft Jheng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數學題目系統</dc:title>
  <dc:creator/>
</cp:coreProperties>
</file>